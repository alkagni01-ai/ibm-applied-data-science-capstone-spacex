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6" r:id="rId12"/>
    <p:sldId id="277" r:id="rId13"/>
    <p:sldId id="278" r:id="rId14"/>
    <p:sldId id="279" r:id="rId15"/>
    <p:sldId id="266" r:id="rId16"/>
    <p:sldId id="272" r:id="rId17"/>
    <p:sldId id="273" r:id="rId18"/>
    <p:sldId id="275" r:id="rId19"/>
    <p:sldId id="274" r:id="rId20"/>
    <p:sldId id="267" r:id="rId21"/>
    <p:sldId id="268" r:id="rId22"/>
    <p:sldId id="269" r:id="rId23"/>
    <p:sldId id="270" r:id="rId24"/>
    <p:sldId id="27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7" d="100"/>
          <a:sy n="77" d="100"/>
        </p:scale>
        <p:origin x="883"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961120" y="548640"/>
            <a:ext cx="2194560" cy="2194560"/>
          </a:xfrm>
          <a:prstGeom prst="ellipse">
            <a:avLst/>
          </a:prstGeom>
          <a:solidFill>
            <a:srgbClr val="1A5D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509760" y="1097280"/>
            <a:ext cx="1097280" cy="1097280"/>
          </a:xfrm>
          <a:prstGeom prst="ellipse">
            <a:avLst/>
          </a:prstGeom>
          <a:solidFill>
            <a:srgbClr val="00B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058400" y="1645920"/>
            <a:ext cx="22860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0080"/>
            <a:ext cx="7772400" cy="320040"/>
          </a:xfrm>
          <a:prstGeom prst="rect">
            <a:avLst/>
          </a:prstGeom>
          <a:noFill/>
        </p:spPr>
        <p:txBody>
          <a:bodyPr wrap="square" lIns="36576" tIns="18288" rIns="36576" bIns="18288">
            <a:spAutoFit/>
          </a:bodyPr>
          <a:lstStyle/>
          <a:p>
            <a:pPr>
              <a:defRPr sz="1200" b="1">
                <a:solidFill>
                  <a:srgbClr val="00B7D6"/>
                </a:solidFill>
                <a:latin typeface="Aptos"/>
              </a:defRPr>
            </a:pPr>
            <a:r>
              <a:t>IBM • COURSERA</a:t>
            </a:r>
          </a:p>
        </p:txBody>
      </p:sp>
      <p:sp>
        <p:nvSpPr>
          <p:cNvPr id="7" name="TextBox 6"/>
          <p:cNvSpPr txBox="1"/>
          <p:nvPr/>
        </p:nvSpPr>
        <p:spPr>
          <a:xfrm>
            <a:off x="731520" y="1371600"/>
            <a:ext cx="7955279" cy="1645920"/>
          </a:xfrm>
          <a:prstGeom prst="rect">
            <a:avLst/>
          </a:prstGeom>
          <a:noFill/>
        </p:spPr>
        <p:txBody>
          <a:bodyPr wrap="square" lIns="36576" tIns="18288" rIns="36576" bIns="18288">
            <a:spAutoFit/>
          </a:bodyPr>
          <a:lstStyle/>
          <a:p>
            <a:pPr>
              <a:defRPr sz="3200" b="1">
                <a:solidFill>
                  <a:srgbClr val="FFFFFF"/>
                </a:solidFill>
                <a:latin typeface="Aptos"/>
              </a:defRPr>
            </a:pPr>
            <a:r>
              <a:t>APPLIED DATA SCIENCE</a:t>
            </a:r>
            <a:br/>
            <a:r>
              <a:t>CAPSTONE</a:t>
            </a:r>
          </a:p>
        </p:txBody>
      </p:sp>
      <p:sp>
        <p:nvSpPr>
          <p:cNvPr id="8" name="TextBox 7"/>
          <p:cNvSpPr txBox="1"/>
          <p:nvPr/>
        </p:nvSpPr>
        <p:spPr>
          <a:xfrm>
            <a:off x="731520" y="3246120"/>
            <a:ext cx="7955279" cy="640080"/>
          </a:xfrm>
          <a:prstGeom prst="rect">
            <a:avLst/>
          </a:prstGeom>
          <a:noFill/>
        </p:spPr>
        <p:txBody>
          <a:bodyPr wrap="square" lIns="36576" tIns="18288" rIns="36576" bIns="18288">
            <a:spAutoFit/>
          </a:bodyPr>
          <a:lstStyle/>
          <a:p>
            <a:pPr>
              <a:defRPr sz="2800" b="1">
                <a:solidFill>
                  <a:srgbClr val="00B7D6"/>
                </a:solidFill>
                <a:latin typeface="Aptos"/>
              </a:defRPr>
            </a:pPr>
            <a:r>
              <a:t>SpaceX Falcon 9</a:t>
            </a:r>
          </a:p>
        </p:txBody>
      </p:sp>
      <p:sp>
        <p:nvSpPr>
          <p:cNvPr id="9" name="TextBox 8"/>
          <p:cNvSpPr txBox="1"/>
          <p:nvPr/>
        </p:nvSpPr>
        <p:spPr>
          <a:xfrm>
            <a:off x="731520" y="4114800"/>
            <a:ext cx="7863840" cy="1005840"/>
          </a:xfrm>
          <a:prstGeom prst="rect">
            <a:avLst/>
          </a:prstGeom>
          <a:noFill/>
        </p:spPr>
        <p:txBody>
          <a:bodyPr wrap="square" lIns="36576" tIns="18288" rIns="36576" bIns="18288">
            <a:spAutoFit/>
          </a:bodyPr>
          <a:lstStyle/>
          <a:p>
            <a:pPr>
              <a:defRPr sz="1800" b="0">
                <a:solidFill>
                  <a:srgbClr val="FFFFFF"/>
                </a:solidFill>
                <a:latin typeface="Aptos"/>
              </a:defRPr>
            </a:pPr>
            <a:r>
              <a:t>Analyse des lancements, exploration des données et tableau de bord interactif</a:t>
            </a:r>
          </a:p>
        </p:txBody>
      </p:sp>
      <p:sp>
        <p:nvSpPr>
          <p:cNvPr id="10" name="TextBox 9"/>
          <p:cNvSpPr txBox="1"/>
          <p:nvPr/>
        </p:nvSpPr>
        <p:spPr>
          <a:xfrm>
            <a:off x="731520" y="5897880"/>
            <a:ext cx="6400800" cy="274320"/>
          </a:xfrm>
          <a:prstGeom prst="rect">
            <a:avLst/>
          </a:prstGeom>
          <a:noFill/>
        </p:spPr>
        <p:txBody>
          <a:bodyPr wrap="square" lIns="36576" tIns="18288" rIns="36576" bIns="18288">
            <a:spAutoFit/>
          </a:bodyPr>
          <a:lstStyle/>
          <a:p>
            <a:pPr>
              <a:defRPr sz="1100" b="0">
                <a:solidFill>
                  <a:srgbClr val="C8D8E6"/>
                </a:solidFill>
                <a:latin typeface="Aptos"/>
              </a:defRPr>
            </a:pPr>
            <a:r>
              <a:t>Présentation finale • Version française</a:t>
            </a:r>
          </a:p>
        </p:txBody>
      </p:sp>
      <p:sp>
        <p:nvSpPr>
          <p:cNvPr id="11" name="TextBox 10"/>
          <p:cNvSpPr txBox="1"/>
          <p:nvPr/>
        </p:nvSpPr>
        <p:spPr>
          <a:xfrm>
            <a:off x="10972800" y="6473952"/>
            <a:ext cx="640080" cy="182880"/>
          </a:xfrm>
          <a:prstGeom prst="rect">
            <a:avLst/>
          </a:prstGeom>
          <a:noFill/>
        </p:spPr>
        <p:txBody>
          <a:bodyPr wrap="square" lIns="36576" tIns="18288" rIns="36576" bIns="18288">
            <a:spAutoFit/>
          </a:bodyPr>
          <a:lstStyle/>
          <a:p>
            <a:pPr algn="r">
              <a:defRPr sz="900" b="0">
                <a:solidFill>
                  <a:srgbClr val="FFFFFF"/>
                </a:solidFill>
                <a:latin typeface="Aptos"/>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lIns="36576" tIns="18288" rIns="36576" bIns="18288">
            <a:spAutoFit/>
          </a:bodyPr>
          <a:lstStyle/>
          <a:p>
            <a:pPr>
              <a:defRPr sz="900" b="1">
                <a:solidFill>
                  <a:srgbClr val="1A5DAB"/>
                </a:solidFill>
                <a:latin typeface="Aptos"/>
              </a:defRPr>
            </a:pPr>
            <a:r>
              <a:t>APPLIED DATA SCIENCE CAPSTONE • SPACEX FALCON 9</a:t>
            </a:r>
          </a:p>
        </p:txBody>
      </p:sp>
      <p:sp>
        <p:nvSpPr>
          <p:cNvPr id="4" name="TextBox 3"/>
          <p:cNvSpPr txBox="1"/>
          <p:nvPr/>
        </p:nvSpPr>
        <p:spPr>
          <a:xfrm>
            <a:off x="502920" y="566928"/>
            <a:ext cx="11155680" cy="530352"/>
          </a:xfrm>
          <a:prstGeom prst="rect">
            <a:avLst/>
          </a:prstGeom>
          <a:noFill/>
        </p:spPr>
        <p:txBody>
          <a:bodyPr wrap="square" lIns="36576" tIns="18288" rIns="36576" bIns="18288">
            <a:spAutoFit/>
          </a:bodyPr>
          <a:lstStyle/>
          <a:p>
            <a:pPr>
              <a:defRPr sz="2700" b="1">
                <a:solidFill>
                  <a:srgbClr val="0B1930"/>
                </a:solidFill>
                <a:latin typeface="Aptos"/>
              </a:defRPr>
            </a:pPr>
            <a:r>
              <a:t>Résumé exécutif</a:t>
            </a:r>
          </a:p>
        </p:txBody>
      </p:sp>
      <p:sp>
        <p:nvSpPr>
          <p:cNvPr id="5" name="Rectangle 4"/>
          <p:cNvSpPr/>
          <p:nvPr/>
        </p:nvSpPr>
        <p:spPr>
          <a:xfrm>
            <a:off x="502920" y="1170432"/>
            <a:ext cx="11155680" cy="32004"/>
          </a:xfrm>
          <a:prstGeom prst="rect">
            <a:avLst/>
          </a:prstGeom>
          <a:solidFill>
            <a:srgbClr val="00B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08760"/>
            <a:ext cx="10789920" cy="4480560"/>
          </a:xfrm>
          <a:prstGeom prst="rect">
            <a:avLst/>
          </a:prstGeom>
          <a:noFill/>
        </p:spPr>
        <p:txBody>
          <a:bodyPr wrap="square" lIns="73152" rIns="54864">
            <a:spAutoFit/>
          </a:bodyPr>
          <a:lstStyle/>
          <a:p>
            <a:pPr>
              <a:spcAft>
                <a:spcPts val="900"/>
              </a:spcAft>
              <a:defRPr sz="1800">
                <a:solidFill>
                  <a:srgbClr val="1B2735"/>
                </a:solidFill>
                <a:latin typeface="Aptos"/>
              </a:defRPr>
            </a:pPr>
            <a:r>
              <a:t>•  Objectif : explorer les facteurs associés à la réussite des lancements/atterrissages Falcon 9 et construire une interface de visualisation.</a:t>
            </a:r>
          </a:p>
          <a:p>
            <a:pPr>
              <a:spcAft>
                <a:spcPts val="900"/>
              </a:spcAft>
              <a:defRPr sz="1800">
                <a:solidFill>
                  <a:srgbClr val="1B2735"/>
                </a:solidFill>
                <a:latin typeface="Aptos"/>
              </a:defRPr>
            </a:pPr>
            <a:r>
              <a:t>•  Approche : préparation des données, analyse exploratoire, requêtes SQL, cartographie Folium, tableau de bord Plotly Dash et démarche de classification.</a:t>
            </a:r>
          </a:p>
          <a:p>
            <a:pPr>
              <a:spcAft>
                <a:spcPts val="900"/>
              </a:spcAft>
              <a:defRPr sz="1800">
                <a:solidFill>
                  <a:srgbClr val="1B2735"/>
                </a:solidFill>
                <a:latin typeface="Aptos"/>
              </a:defRPr>
            </a:pPr>
            <a:r>
              <a:t>•  Résultats chiffrés vérifiés dans le CSV du tableau de bord : KSC LC-39A affiche 10 succès sur 13 lancements (76,92 %).</a:t>
            </a:r>
          </a:p>
          <a:p>
            <a:pPr>
              <a:spcAft>
                <a:spcPts val="900"/>
              </a:spcAft>
              <a:defRPr sz="1800">
                <a:solidFill>
                  <a:srgbClr val="1B2735"/>
                </a:solidFill>
                <a:latin typeface="Aptos"/>
              </a:defRPr>
            </a:pPr>
            <a:r>
              <a:t>•  Parmi les intervalles de charge utile observés, 3 000–4 000 kg affiche 8 succès sur 11 lancements (72,73 %).</a:t>
            </a:r>
          </a:p>
          <a:p>
            <a:pPr>
              <a:spcAft>
                <a:spcPts val="900"/>
              </a:spcAft>
              <a:defRPr sz="1800">
                <a:solidFill>
                  <a:srgbClr val="1B2735"/>
                </a:solidFill>
                <a:latin typeface="Aptos"/>
              </a:defRPr>
            </a:pPr>
            <a:r>
              <a:t>•  La version FT totalise 16 succès sur 24 lancements (66,67 %). Les faibles effectifs imposent une interprétation prudente.</a:t>
            </a:r>
          </a:p>
        </p:txBody>
      </p:sp>
      <p:sp>
        <p:nvSpPr>
          <p:cNvPr id="7" name="TextBox 6"/>
          <p:cNvSpPr txBox="1"/>
          <p:nvPr/>
        </p:nvSpPr>
        <p:spPr>
          <a:xfrm>
            <a:off x="502920" y="6510528"/>
            <a:ext cx="9144000" cy="164592"/>
          </a:xfrm>
          <a:prstGeom prst="rect">
            <a:avLst/>
          </a:prstGeom>
          <a:noFill/>
        </p:spPr>
        <p:txBody>
          <a:bodyPr wrap="square" lIns="36576" tIns="18288" rIns="36576" bIns="18288">
            <a:spAutoFit/>
          </a:bodyPr>
          <a:lstStyle/>
          <a:p>
            <a:pPr>
              <a:defRPr sz="800" b="0">
                <a:solidFill>
                  <a:srgbClr val="566577"/>
                </a:solidFill>
                <a:latin typeface="Aptos"/>
              </a:defRPr>
            </a:pPr>
            <a:r>
              <a:t>Projet SpaceX Falcon 9 • Analyse descriptive et tableau de bord interactif</a:t>
            </a:r>
          </a:p>
        </p:txBody>
      </p:sp>
      <p:sp>
        <p:nvSpPr>
          <p:cNvPr id="8" name="TextBox 7"/>
          <p:cNvSpPr txBox="1"/>
          <p:nvPr/>
        </p:nvSpPr>
        <p:spPr>
          <a:xfrm>
            <a:off x="10972800" y="6492240"/>
            <a:ext cx="640080" cy="182880"/>
          </a:xfrm>
          <a:prstGeom prst="rect">
            <a:avLst/>
          </a:prstGeom>
          <a:noFill/>
        </p:spPr>
        <p:txBody>
          <a:bodyPr wrap="square" lIns="36576" tIns="18288" rIns="36576" bIns="18288">
            <a:spAutoFit/>
          </a:bodyPr>
          <a:lstStyle/>
          <a:p>
            <a:pPr algn="r">
              <a:defRPr sz="900" b="0">
                <a:solidFill>
                  <a:srgbClr val="566577"/>
                </a:solidFill>
                <a:latin typeface="Aptos"/>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lIns="36576" tIns="18288" rIns="36576" bIns="18288">
            <a:spAutoFit/>
          </a:bodyPr>
          <a:lstStyle/>
          <a:p>
            <a:pPr>
              <a:defRPr sz="900" b="1">
                <a:solidFill>
                  <a:srgbClr val="1A5DAB"/>
                </a:solidFill>
                <a:latin typeface="Aptos"/>
              </a:defRPr>
            </a:pPr>
            <a:r>
              <a:t>APPLIED DATA SCIENCE CAPSTONE • SPACEX FALCON 9</a:t>
            </a:r>
          </a:p>
        </p:txBody>
      </p:sp>
      <p:sp>
        <p:nvSpPr>
          <p:cNvPr id="4" name="TextBox 3"/>
          <p:cNvSpPr txBox="1"/>
          <p:nvPr/>
        </p:nvSpPr>
        <p:spPr>
          <a:xfrm>
            <a:off x="502920" y="566928"/>
            <a:ext cx="11155680" cy="530352"/>
          </a:xfrm>
          <a:prstGeom prst="rect">
            <a:avLst/>
          </a:prstGeom>
          <a:noFill/>
        </p:spPr>
        <p:txBody>
          <a:bodyPr wrap="square" lIns="36576" tIns="18288" rIns="36576" bIns="18288">
            <a:spAutoFit/>
          </a:bodyPr>
          <a:lstStyle/>
          <a:p>
            <a:pPr>
              <a:defRPr sz="2700" b="1">
                <a:solidFill>
                  <a:srgbClr val="0B1930"/>
                </a:solidFill>
                <a:latin typeface="Aptos"/>
              </a:defRPr>
            </a:pPr>
            <a:r>
              <a:t>Contexte et question de recherche</a:t>
            </a:r>
          </a:p>
        </p:txBody>
      </p:sp>
      <p:sp>
        <p:nvSpPr>
          <p:cNvPr id="5" name="Rectangle 4"/>
          <p:cNvSpPr/>
          <p:nvPr/>
        </p:nvSpPr>
        <p:spPr>
          <a:xfrm>
            <a:off x="502920" y="1170432"/>
            <a:ext cx="11155680" cy="32004"/>
          </a:xfrm>
          <a:prstGeom prst="rect">
            <a:avLst/>
          </a:prstGeom>
          <a:solidFill>
            <a:srgbClr val="00B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08760"/>
            <a:ext cx="10789920" cy="4480560"/>
          </a:xfrm>
          <a:prstGeom prst="rect">
            <a:avLst/>
          </a:prstGeom>
          <a:noFill/>
        </p:spPr>
        <p:txBody>
          <a:bodyPr wrap="square" lIns="73152" rIns="54864">
            <a:spAutoFit/>
          </a:bodyPr>
          <a:lstStyle/>
          <a:p>
            <a:pPr>
              <a:spcAft>
                <a:spcPts val="900"/>
              </a:spcAft>
              <a:defRPr sz="1800">
                <a:solidFill>
                  <a:srgbClr val="1B2735"/>
                </a:solidFill>
                <a:latin typeface="Aptos"/>
              </a:defRPr>
            </a:pPr>
            <a:r>
              <a:t>•  Contexte : la récupération du premier étage peut contribuer à réduire les coûts d’accès à l’espace, mais la réussite dépend de plusieurs conditions opérationnelles.</a:t>
            </a:r>
          </a:p>
          <a:p>
            <a:pPr>
              <a:spcAft>
                <a:spcPts val="900"/>
              </a:spcAft>
              <a:defRPr sz="1800">
                <a:solidFill>
                  <a:srgbClr val="1B2735"/>
                </a:solidFill>
                <a:latin typeface="Aptos"/>
              </a:defRPr>
            </a:pPr>
            <a:r>
              <a:t>•  Question : quelles différences descriptives observe-t-on selon le site, la masse de charge utile et la version du booster ?</a:t>
            </a:r>
          </a:p>
          <a:p>
            <a:pPr>
              <a:spcAft>
                <a:spcPts val="900"/>
              </a:spcAft>
              <a:defRPr sz="1800">
                <a:solidFill>
                  <a:srgbClr val="1B2735"/>
                </a:solidFill>
                <a:latin typeface="Aptos"/>
              </a:defRPr>
            </a:pPr>
            <a:r>
              <a:t>•  Objectif opérationnel : proposer une exploration interactive permettant de filtrer les lancements et d’examiner les résultats.</a:t>
            </a:r>
          </a:p>
          <a:p>
            <a:pPr>
              <a:spcAft>
                <a:spcPts val="900"/>
              </a:spcAft>
              <a:defRPr sz="1800">
                <a:solidFill>
                  <a:srgbClr val="1B2735"/>
                </a:solidFill>
                <a:latin typeface="Aptos"/>
              </a:defRPr>
            </a:pPr>
            <a:r>
              <a:t>•  Périmètre : les conclusions quantitatives de cette présentation reposent sur les sorties effectivement disponibles dans le fichier spacex_launch_dash.csv.</a:t>
            </a:r>
          </a:p>
        </p:txBody>
      </p:sp>
      <p:sp>
        <p:nvSpPr>
          <p:cNvPr id="7" name="TextBox 6"/>
          <p:cNvSpPr txBox="1"/>
          <p:nvPr/>
        </p:nvSpPr>
        <p:spPr>
          <a:xfrm>
            <a:off x="502920" y="6510528"/>
            <a:ext cx="9144000" cy="164592"/>
          </a:xfrm>
          <a:prstGeom prst="rect">
            <a:avLst/>
          </a:prstGeom>
          <a:noFill/>
        </p:spPr>
        <p:txBody>
          <a:bodyPr wrap="square" lIns="36576" tIns="18288" rIns="36576" bIns="18288">
            <a:spAutoFit/>
          </a:bodyPr>
          <a:lstStyle/>
          <a:p>
            <a:pPr>
              <a:defRPr sz="800" b="0">
                <a:solidFill>
                  <a:srgbClr val="566577"/>
                </a:solidFill>
                <a:latin typeface="Aptos"/>
              </a:defRPr>
            </a:pPr>
            <a:r>
              <a:t>Projet SpaceX Falcon 9 • Analyse descriptive et tableau de bord interactif</a:t>
            </a:r>
          </a:p>
        </p:txBody>
      </p:sp>
      <p:sp>
        <p:nvSpPr>
          <p:cNvPr id="8" name="TextBox 7"/>
          <p:cNvSpPr txBox="1"/>
          <p:nvPr/>
        </p:nvSpPr>
        <p:spPr>
          <a:xfrm>
            <a:off x="10972800" y="6492240"/>
            <a:ext cx="640080" cy="182880"/>
          </a:xfrm>
          <a:prstGeom prst="rect">
            <a:avLst/>
          </a:prstGeom>
          <a:noFill/>
        </p:spPr>
        <p:txBody>
          <a:bodyPr wrap="square" lIns="36576" tIns="18288" rIns="36576" bIns="18288">
            <a:spAutoFit/>
          </a:bodyPr>
          <a:lstStyle/>
          <a:p>
            <a:pPr algn="r">
              <a:defRPr sz="900" b="0">
                <a:solidFill>
                  <a:srgbClr val="566577"/>
                </a:solidFill>
                <a:latin typeface="Aptos"/>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lIns="36576" tIns="18288" rIns="36576" bIns="18288">
            <a:spAutoFit/>
          </a:bodyPr>
          <a:lstStyle/>
          <a:p>
            <a:pPr>
              <a:defRPr sz="900" b="1">
                <a:solidFill>
                  <a:srgbClr val="1A5DAB"/>
                </a:solidFill>
                <a:latin typeface="Aptos"/>
              </a:defRPr>
            </a:pPr>
            <a:r>
              <a:t>APPLIED DATA SCIENCE CAPSTONE • SPACEX FALCON 9</a:t>
            </a:r>
          </a:p>
        </p:txBody>
      </p:sp>
      <p:sp>
        <p:nvSpPr>
          <p:cNvPr id="4" name="TextBox 3"/>
          <p:cNvSpPr txBox="1"/>
          <p:nvPr/>
        </p:nvSpPr>
        <p:spPr>
          <a:xfrm>
            <a:off x="502920" y="566928"/>
            <a:ext cx="11155680" cy="530352"/>
          </a:xfrm>
          <a:prstGeom prst="rect">
            <a:avLst/>
          </a:prstGeom>
          <a:noFill/>
        </p:spPr>
        <p:txBody>
          <a:bodyPr wrap="square" lIns="36576" tIns="18288" rIns="36576" bIns="18288">
            <a:spAutoFit/>
          </a:bodyPr>
          <a:lstStyle/>
          <a:p>
            <a:pPr>
              <a:defRPr sz="2700" b="1">
                <a:solidFill>
                  <a:srgbClr val="0B1930"/>
                </a:solidFill>
                <a:latin typeface="Aptos"/>
              </a:defRPr>
            </a:pPr>
            <a:r>
              <a:t>Démarche analytique</a:t>
            </a:r>
          </a:p>
        </p:txBody>
      </p:sp>
      <p:sp>
        <p:nvSpPr>
          <p:cNvPr id="5" name="Rectangle 4"/>
          <p:cNvSpPr/>
          <p:nvPr/>
        </p:nvSpPr>
        <p:spPr>
          <a:xfrm>
            <a:off x="502920" y="1170432"/>
            <a:ext cx="11155680" cy="32004"/>
          </a:xfrm>
          <a:prstGeom prst="rect">
            <a:avLst/>
          </a:prstGeom>
          <a:solidFill>
            <a:srgbClr val="00B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08760"/>
            <a:ext cx="10789920" cy="4480560"/>
          </a:xfrm>
          <a:prstGeom prst="rect">
            <a:avLst/>
          </a:prstGeom>
          <a:noFill/>
        </p:spPr>
        <p:txBody>
          <a:bodyPr wrap="square" lIns="73152" rIns="54864">
            <a:spAutoFit/>
          </a:bodyPr>
          <a:lstStyle/>
          <a:p>
            <a:pPr>
              <a:spcAft>
                <a:spcPts val="900"/>
              </a:spcAft>
              <a:defRPr sz="1800">
                <a:solidFill>
                  <a:srgbClr val="1B2735"/>
                </a:solidFill>
                <a:latin typeface="Aptos"/>
              </a:defRPr>
            </a:pPr>
            <a:r>
              <a:t>•  1. Collecte : données SpaceX issues des ressources du laboratoire IBM/Coursera.</a:t>
            </a:r>
          </a:p>
          <a:p>
            <a:pPr>
              <a:spcAft>
                <a:spcPts val="900"/>
              </a:spcAft>
              <a:defRPr sz="1800">
                <a:solidFill>
                  <a:srgbClr val="1B2735"/>
                </a:solidFill>
                <a:latin typeface="Aptos"/>
              </a:defRPr>
            </a:pPr>
            <a:r>
              <a:t>•  2. Préparation : chargement avec pandas, contrôle des variables utiles et définition de la classe de résultat.</a:t>
            </a:r>
          </a:p>
          <a:p>
            <a:pPr>
              <a:spcAft>
                <a:spcPts val="900"/>
              </a:spcAft>
              <a:defRPr sz="1800">
                <a:solidFill>
                  <a:srgbClr val="1B2735"/>
                </a:solidFill>
                <a:latin typeface="Aptos"/>
              </a:defRPr>
            </a:pPr>
            <a:r>
              <a:t>•  3. Analyse exploratoire : comparaison des sites, charges utiles et versions de booster.</a:t>
            </a:r>
          </a:p>
          <a:p>
            <a:pPr>
              <a:spcAft>
                <a:spcPts val="900"/>
              </a:spcAft>
              <a:defRPr sz="1800">
                <a:solidFill>
                  <a:srgbClr val="1B2735"/>
                </a:solidFill>
                <a:latin typeface="Aptos"/>
              </a:defRPr>
            </a:pPr>
            <a:r>
              <a:t>•  4. Visualisation : graphiques interactifs avec Plotly Dash ; cartographie avec Folium dans le parcours du laboratoire.</a:t>
            </a:r>
          </a:p>
          <a:p>
            <a:pPr>
              <a:spcAft>
                <a:spcPts val="900"/>
              </a:spcAft>
              <a:defRPr sz="1800">
                <a:solidFill>
                  <a:srgbClr val="1B2735"/>
                </a:solidFill>
                <a:latin typeface="Aptos"/>
              </a:defRPr>
            </a:pPr>
            <a:r>
              <a:t>•  5. Modélisation : classification supervisée à évaluer à partir des métriques réellement calculées dans le notebook dédié.</a:t>
            </a:r>
          </a:p>
        </p:txBody>
      </p:sp>
      <p:sp>
        <p:nvSpPr>
          <p:cNvPr id="7" name="TextBox 6"/>
          <p:cNvSpPr txBox="1"/>
          <p:nvPr/>
        </p:nvSpPr>
        <p:spPr>
          <a:xfrm>
            <a:off x="502920" y="6510528"/>
            <a:ext cx="9144000" cy="164592"/>
          </a:xfrm>
          <a:prstGeom prst="rect">
            <a:avLst/>
          </a:prstGeom>
          <a:noFill/>
        </p:spPr>
        <p:txBody>
          <a:bodyPr wrap="square" lIns="36576" tIns="18288" rIns="36576" bIns="18288">
            <a:spAutoFit/>
          </a:bodyPr>
          <a:lstStyle/>
          <a:p>
            <a:pPr>
              <a:defRPr sz="800" b="0">
                <a:solidFill>
                  <a:srgbClr val="566577"/>
                </a:solidFill>
                <a:latin typeface="Aptos"/>
              </a:defRPr>
            </a:pPr>
            <a:r>
              <a:t>Projet SpaceX Falcon 9 • Analyse descriptive et tableau de bord interactif</a:t>
            </a:r>
          </a:p>
        </p:txBody>
      </p:sp>
      <p:sp>
        <p:nvSpPr>
          <p:cNvPr id="8" name="TextBox 7"/>
          <p:cNvSpPr txBox="1"/>
          <p:nvPr/>
        </p:nvSpPr>
        <p:spPr>
          <a:xfrm>
            <a:off x="10972800" y="6492240"/>
            <a:ext cx="640080" cy="182880"/>
          </a:xfrm>
          <a:prstGeom prst="rect">
            <a:avLst/>
          </a:prstGeom>
          <a:noFill/>
        </p:spPr>
        <p:txBody>
          <a:bodyPr wrap="square" lIns="36576" tIns="18288" rIns="36576" bIns="18288">
            <a:spAutoFit/>
          </a:bodyPr>
          <a:lstStyle/>
          <a:p>
            <a:pPr algn="r">
              <a:defRPr sz="900" b="0">
                <a:solidFill>
                  <a:srgbClr val="566577"/>
                </a:solidFill>
                <a:latin typeface="Aptos"/>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lIns="36576" tIns="18288" rIns="36576" bIns="18288">
            <a:spAutoFit/>
          </a:bodyPr>
          <a:lstStyle/>
          <a:p>
            <a:pPr>
              <a:defRPr sz="900" b="1">
                <a:solidFill>
                  <a:srgbClr val="1A5DAB"/>
                </a:solidFill>
                <a:latin typeface="Aptos"/>
              </a:defRPr>
            </a:pPr>
            <a:r>
              <a:t>APPLIED DATA SCIENCE CAPSTONE • SPACEX FALCON 9</a:t>
            </a:r>
          </a:p>
        </p:txBody>
      </p:sp>
      <p:sp>
        <p:nvSpPr>
          <p:cNvPr id="4" name="TextBox 3"/>
          <p:cNvSpPr txBox="1"/>
          <p:nvPr/>
        </p:nvSpPr>
        <p:spPr>
          <a:xfrm>
            <a:off x="502920" y="566928"/>
            <a:ext cx="11155680" cy="530352"/>
          </a:xfrm>
          <a:prstGeom prst="rect">
            <a:avLst/>
          </a:prstGeom>
          <a:noFill/>
        </p:spPr>
        <p:txBody>
          <a:bodyPr wrap="square" lIns="36576" tIns="18288" rIns="36576" bIns="18288">
            <a:spAutoFit/>
          </a:bodyPr>
          <a:lstStyle/>
          <a:p>
            <a:pPr>
              <a:defRPr sz="2700" b="1">
                <a:solidFill>
                  <a:srgbClr val="0B1930"/>
                </a:solidFill>
                <a:latin typeface="Aptos"/>
              </a:defRPr>
            </a:pPr>
            <a:r>
              <a:t>Données et variables mobilisées</a:t>
            </a:r>
          </a:p>
        </p:txBody>
      </p:sp>
      <p:sp>
        <p:nvSpPr>
          <p:cNvPr id="5" name="Rectangle 4"/>
          <p:cNvSpPr/>
          <p:nvPr/>
        </p:nvSpPr>
        <p:spPr>
          <a:xfrm>
            <a:off x="502920" y="1170432"/>
            <a:ext cx="11155680" cy="32004"/>
          </a:xfrm>
          <a:prstGeom prst="rect">
            <a:avLst/>
          </a:prstGeom>
          <a:solidFill>
            <a:srgbClr val="00B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08760"/>
            <a:ext cx="10789920" cy="4480560"/>
          </a:xfrm>
          <a:prstGeom prst="rect">
            <a:avLst/>
          </a:prstGeom>
          <a:noFill/>
        </p:spPr>
        <p:txBody>
          <a:bodyPr wrap="square" lIns="73152" rIns="54864">
            <a:spAutoFit/>
          </a:bodyPr>
          <a:lstStyle/>
          <a:p>
            <a:pPr>
              <a:spcAft>
                <a:spcPts val="900"/>
              </a:spcAft>
              <a:defRPr sz="1800">
                <a:solidFill>
                  <a:srgbClr val="1B2735"/>
                </a:solidFill>
                <a:latin typeface="Aptos"/>
              </a:defRPr>
            </a:pPr>
            <a:r>
              <a:t>•  Launch Site : site de lancement, utilisé pour filtrer et comparer les groupes.</a:t>
            </a:r>
          </a:p>
          <a:p>
            <a:pPr>
              <a:spcAft>
                <a:spcPts val="900"/>
              </a:spcAft>
              <a:defRPr sz="1800">
                <a:solidFill>
                  <a:srgbClr val="1B2735"/>
                </a:solidFill>
                <a:latin typeface="Aptos"/>
              </a:defRPr>
            </a:pPr>
            <a:r>
              <a:t>•  Payload Mass (kg) : masse de la charge utile en kilogrammes.</a:t>
            </a:r>
          </a:p>
          <a:p>
            <a:pPr>
              <a:spcAft>
                <a:spcPts val="900"/>
              </a:spcAft>
              <a:defRPr sz="1800">
                <a:solidFill>
                  <a:srgbClr val="1B2735"/>
                </a:solidFill>
                <a:latin typeface="Aptos"/>
              </a:defRPr>
            </a:pPr>
            <a:r>
              <a:t>•  class : variable binaire du fichier Dash ; 1 = succès et 0 = échec.</a:t>
            </a:r>
          </a:p>
          <a:p>
            <a:pPr>
              <a:spcAft>
                <a:spcPts val="900"/>
              </a:spcAft>
              <a:defRPr sz="1800">
                <a:solidFill>
                  <a:srgbClr val="1B2735"/>
                </a:solidFill>
                <a:latin typeface="Aptos"/>
              </a:defRPr>
            </a:pPr>
            <a:r>
              <a:t>•  Booster Version Category : catégorie de version du booster, utilisée pour différencier les points du nuage de dispersion.</a:t>
            </a:r>
          </a:p>
          <a:p>
            <a:pPr>
              <a:spcAft>
                <a:spcPts val="900"/>
              </a:spcAft>
              <a:defRPr sz="1800">
                <a:solidFill>
                  <a:srgbClr val="1B2735"/>
                </a:solidFill>
                <a:latin typeface="Aptos"/>
              </a:defRPr>
            </a:pPr>
            <a:r>
              <a:t>•  Attention : la définition opérationnelle de « succès » doit rester celle du dataset du laboratoire ; elle ne doit pas être étendue sans vérification à toutes les dimensions d’une mission.</a:t>
            </a:r>
          </a:p>
        </p:txBody>
      </p:sp>
      <p:sp>
        <p:nvSpPr>
          <p:cNvPr id="7" name="TextBox 6"/>
          <p:cNvSpPr txBox="1"/>
          <p:nvPr/>
        </p:nvSpPr>
        <p:spPr>
          <a:xfrm>
            <a:off x="502920" y="6510528"/>
            <a:ext cx="9144000" cy="164592"/>
          </a:xfrm>
          <a:prstGeom prst="rect">
            <a:avLst/>
          </a:prstGeom>
          <a:noFill/>
        </p:spPr>
        <p:txBody>
          <a:bodyPr wrap="square" lIns="36576" tIns="18288" rIns="36576" bIns="18288">
            <a:spAutoFit/>
          </a:bodyPr>
          <a:lstStyle/>
          <a:p>
            <a:pPr>
              <a:defRPr sz="800" b="0">
                <a:solidFill>
                  <a:srgbClr val="566577"/>
                </a:solidFill>
                <a:latin typeface="Aptos"/>
              </a:defRPr>
            </a:pPr>
            <a:r>
              <a:t>Projet SpaceX Falcon 9 • Analyse descriptive et tableau de bord interactif</a:t>
            </a:r>
          </a:p>
        </p:txBody>
      </p:sp>
      <p:sp>
        <p:nvSpPr>
          <p:cNvPr id="8" name="TextBox 7"/>
          <p:cNvSpPr txBox="1"/>
          <p:nvPr/>
        </p:nvSpPr>
        <p:spPr>
          <a:xfrm>
            <a:off x="10972800" y="6492240"/>
            <a:ext cx="640080" cy="182880"/>
          </a:xfrm>
          <a:prstGeom prst="rect">
            <a:avLst/>
          </a:prstGeom>
          <a:noFill/>
        </p:spPr>
        <p:txBody>
          <a:bodyPr wrap="square" lIns="36576" tIns="18288" rIns="36576" bIns="18288">
            <a:spAutoFit/>
          </a:bodyPr>
          <a:lstStyle/>
          <a:p>
            <a:pPr algn="r">
              <a:defRPr sz="900" b="0">
                <a:solidFill>
                  <a:srgbClr val="566577"/>
                </a:solidFill>
                <a:latin typeface="Aptos"/>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lIns="36576" tIns="18288" rIns="36576" bIns="18288">
            <a:spAutoFit/>
          </a:bodyPr>
          <a:lstStyle/>
          <a:p>
            <a:pPr>
              <a:defRPr sz="900" b="1">
                <a:solidFill>
                  <a:srgbClr val="1A5DAB"/>
                </a:solidFill>
                <a:latin typeface="Aptos"/>
              </a:defRPr>
            </a:pPr>
            <a:r>
              <a:t>SPACE X • APPLIED DATA SCIENCE CAPSTONE</a:t>
            </a:r>
          </a:p>
        </p:txBody>
      </p:sp>
      <p:sp>
        <p:nvSpPr>
          <p:cNvPr id="4" name="TextBox 3"/>
          <p:cNvSpPr txBox="1"/>
          <p:nvPr/>
        </p:nvSpPr>
        <p:spPr>
          <a:xfrm>
            <a:off x="502920" y="566928"/>
            <a:ext cx="11155680" cy="530352"/>
          </a:xfrm>
          <a:prstGeom prst="rect">
            <a:avLst/>
          </a:prstGeom>
          <a:noFill/>
        </p:spPr>
        <p:txBody>
          <a:bodyPr wrap="square" lIns="36576" tIns="18288" rIns="36576" bIns="18288">
            <a:spAutoFit/>
          </a:bodyPr>
          <a:lstStyle/>
          <a:p>
            <a:pPr>
              <a:defRPr sz="2700" b="1">
                <a:solidFill>
                  <a:srgbClr val="0B1930"/>
                </a:solidFill>
                <a:latin typeface="Aptos"/>
              </a:defRPr>
            </a:pPr>
            <a:r>
              <a:t>Résultats — comparaison des sites</a:t>
            </a:r>
          </a:p>
        </p:txBody>
      </p:sp>
      <p:sp>
        <p:nvSpPr>
          <p:cNvPr id="5" name="Rectangle 4"/>
          <p:cNvSpPr/>
          <p:nvPr/>
        </p:nvSpPr>
        <p:spPr>
          <a:xfrm>
            <a:off x="502920" y="1170432"/>
            <a:ext cx="11155680" cy="32004"/>
          </a:xfrm>
          <a:prstGeom prst="rect">
            <a:avLst/>
          </a:prstGeom>
          <a:solidFill>
            <a:srgbClr val="00B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685800" y="1508760"/>
          <a:ext cx="7406640" cy="32918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658368">
                <a:tc>
                  <a:txBody>
                    <a:bodyPr/>
                    <a:lstStyle/>
                    <a:p>
                      <a:pPr>
                        <a:defRPr sz="1400" b="1">
                          <a:solidFill>
                            <a:srgbClr val="FFFFFF"/>
                          </a:solidFill>
                          <a:latin typeface="Aptos"/>
                        </a:defRPr>
                      </a:pPr>
                      <a:r>
                        <a:t>Site</a:t>
                      </a:r>
                    </a:p>
                  </a:txBody>
                  <a:tcPr>
                    <a:solidFill>
                      <a:srgbClr val="0B1930"/>
                    </a:solidFill>
                  </a:tcPr>
                </a:tc>
                <a:tc>
                  <a:txBody>
                    <a:bodyPr/>
                    <a:lstStyle/>
                    <a:p>
                      <a:pPr>
                        <a:defRPr sz="1400" b="1">
                          <a:solidFill>
                            <a:srgbClr val="FFFFFF"/>
                          </a:solidFill>
                          <a:latin typeface="Aptos"/>
                        </a:defRPr>
                      </a:pPr>
                      <a:r>
                        <a:t>Lancements</a:t>
                      </a:r>
                    </a:p>
                  </a:txBody>
                  <a:tcPr>
                    <a:solidFill>
                      <a:srgbClr val="0B1930"/>
                    </a:solidFill>
                  </a:tcPr>
                </a:tc>
                <a:tc>
                  <a:txBody>
                    <a:bodyPr/>
                    <a:lstStyle/>
                    <a:p>
                      <a:pPr>
                        <a:defRPr sz="1400" b="1">
                          <a:solidFill>
                            <a:srgbClr val="FFFFFF"/>
                          </a:solidFill>
                          <a:latin typeface="Aptos"/>
                        </a:defRPr>
                      </a:pPr>
                      <a:r>
                        <a:t>Succès</a:t>
                      </a:r>
                    </a:p>
                  </a:txBody>
                  <a:tcPr>
                    <a:solidFill>
                      <a:srgbClr val="0B1930"/>
                    </a:solidFill>
                  </a:tcPr>
                </a:tc>
                <a:tc>
                  <a:txBody>
                    <a:bodyPr/>
                    <a:lstStyle/>
                    <a:p>
                      <a:pPr>
                        <a:defRPr sz="1400" b="1">
                          <a:solidFill>
                            <a:srgbClr val="FFFFFF"/>
                          </a:solidFill>
                          <a:latin typeface="Aptos"/>
                        </a:defRPr>
                      </a:pPr>
                      <a:r>
                        <a:t>Taux de succès</a:t>
                      </a:r>
                    </a:p>
                  </a:txBody>
                  <a:tcPr>
                    <a:solidFill>
                      <a:srgbClr val="0B1930"/>
                    </a:solidFill>
                  </a:tcPr>
                </a:tc>
                <a:extLst>
                  <a:ext uri="{0D108BD9-81ED-4DB2-BD59-A6C34878D82A}">
                    <a16:rowId xmlns:a16="http://schemas.microsoft.com/office/drawing/2014/main" val="10000"/>
                  </a:ext>
                </a:extLst>
              </a:tr>
              <a:tr h="658368">
                <a:tc>
                  <a:txBody>
                    <a:bodyPr/>
                    <a:lstStyle/>
                    <a:p>
                      <a:pPr>
                        <a:defRPr sz="1300" b="0">
                          <a:solidFill>
                            <a:srgbClr val="1B2735"/>
                          </a:solidFill>
                          <a:latin typeface="Aptos"/>
                        </a:defRPr>
                      </a:pPr>
                      <a:r>
                        <a:t>KSC LC-39A</a:t>
                      </a:r>
                    </a:p>
                  </a:txBody>
                  <a:tcPr>
                    <a:solidFill>
                      <a:srgbClr val="FFFFFF"/>
                    </a:solidFill>
                  </a:tcPr>
                </a:tc>
                <a:tc>
                  <a:txBody>
                    <a:bodyPr/>
                    <a:lstStyle/>
                    <a:p>
                      <a:pPr>
                        <a:defRPr sz="1300" b="0">
                          <a:solidFill>
                            <a:srgbClr val="1B2735"/>
                          </a:solidFill>
                          <a:latin typeface="Aptos"/>
                        </a:defRPr>
                      </a:pPr>
                      <a:r>
                        <a:t>13</a:t>
                      </a:r>
                    </a:p>
                  </a:txBody>
                  <a:tcPr>
                    <a:solidFill>
                      <a:srgbClr val="FFFFFF"/>
                    </a:solidFill>
                  </a:tcPr>
                </a:tc>
                <a:tc>
                  <a:txBody>
                    <a:bodyPr/>
                    <a:lstStyle/>
                    <a:p>
                      <a:pPr>
                        <a:defRPr sz="1300" b="0">
                          <a:solidFill>
                            <a:srgbClr val="1B2735"/>
                          </a:solidFill>
                          <a:latin typeface="Aptos"/>
                        </a:defRPr>
                      </a:pPr>
                      <a:r>
                        <a:t>10</a:t>
                      </a:r>
                    </a:p>
                  </a:txBody>
                  <a:tcPr>
                    <a:solidFill>
                      <a:srgbClr val="FFFFFF"/>
                    </a:solidFill>
                  </a:tcPr>
                </a:tc>
                <a:tc>
                  <a:txBody>
                    <a:bodyPr/>
                    <a:lstStyle/>
                    <a:p>
                      <a:pPr>
                        <a:defRPr sz="1300" b="0">
                          <a:solidFill>
                            <a:srgbClr val="1B2735"/>
                          </a:solidFill>
                          <a:latin typeface="Aptos"/>
                        </a:defRPr>
                      </a:pPr>
                      <a:r>
                        <a:t>76.92 %</a:t>
                      </a:r>
                    </a:p>
                  </a:txBody>
                  <a:tcPr>
                    <a:solidFill>
                      <a:srgbClr val="FFFFFF"/>
                    </a:solidFill>
                  </a:tcPr>
                </a:tc>
                <a:extLst>
                  <a:ext uri="{0D108BD9-81ED-4DB2-BD59-A6C34878D82A}">
                    <a16:rowId xmlns:a16="http://schemas.microsoft.com/office/drawing/2014/main" val="10001"/>
                  </a:ext>
                </a:extLst>
              </a:tr>
              <a:tr h="658368">
                <a:tc>
                  <a:txBody>
                    <a:bodyPr/>
                    <a:lstStyle/>
                    <a:p>
                      <a:pPr>
                        <a:defRPr sz="1300" b="0">
                          <a:solidFill>
                            <a:srgbClr val="1B2735"/>
                          </a:solidFill>
                          <a:latin typeface="Aptos"/>
                        </a:defRPr>
                      </a:pPr>
                      <a:r>
                        <a:t>CCAFS LC-40</a:t>
                      </a:r>
                    </a:p>
                  </a:txBody>
                  <a:tcPr>
                    <a:solidFill>
                      <a:srgbClr val="EEF4F9"/>
                    </a:solidFill>
                  </a:tcPr>
                </a:tc>
                <a:tc>
                  <a:txBody>
                    <a:bodyPr/>
                    <a:lstStyle/>
                    <a:p>
                      <a:pPr>
                        <a:defRPr sz="1300" b="0">
                          <a:solidFill>
                            <a:srgbClr val="1B2735"/>
                          </a:solidFill>
                          <a:latin typeface="Aptos"/>
                        </a:defRPr>
                      </a:pPr>
                      <a:r>
                        <a:t>26</a:t>
                      </a:r>
                    </a:p>
                  </a:txBody>
                  <a:tcPr>
                    <a:solidFill>
                      <a:srgbClr val="EEF4F9"/>
                    </a:solidFill>
                  </a:tcPr>
                </a:tc>
                <a:tc>
                  <a:txBody>
                    <a:bodyPr/>
                    <a:lstStyle/>
                    <a:p>
                      <a:pPr>
                        <a:defRPr sz="1300" b="0">
                          <a:solidFill>
                            <a:srgbClr val="1B2735"/>
                          </a:solidFill>
                          <a:latin typeface="Aptos"/>
                        </a:defRPr>
                      </a:pPr>
                      <a:r>
                        <a:t>7</a:t>
                      </a:r>
                    </a:p>
                  </a:txBody>
                  <a:tcPr>
                    <a:solidFill>
                      <a:srgbClr val="EEF4F9"/>
                    </a:solidFill>
                  </a:tcPr>
                </a:tc>
                <a:tc>
                  <a:txBody>
                    <a:bodyPr/>
                    <a:lstStyle/>
                    <a:p>
                      <a:pPr>
                        <a:defRPr sz="1300" b="0">
                          <a:solidFill>
                            <a:srgbClr val="1B2735"/>
                          </a:solidFill>
                          <a:latin typeface="Aptos"/>
                        </a:defRPr>
                      </a:pPr>
                      <a:r>
                        <a:t>26.92 %</a:t>
                      </a:r>
                    </a:p>
                  </a:txBody>
                  <a:tcPr>
                    <a:solidFill>
                      <a:srgbClr val="EEF4F9"/>
                    </a:solidFill>
                  </a:tcPr>
                </a:tc>
                <a:extLst>
                  <a:ext uri="{0D108BD9-81ED-4DB2-BD59-A6C34878D82A}">
                    <a16:rowId xmlns:a16="http://schemas.microsoft.com/office/drawing/2014/main" val="10002"/>
                  </a:ext>
                </a:extLst>
              </a:tr>
              <a:tr h="658368">
                <a:tc>
                  <a:txBody>
                    <a:bodyPr/>
                    <a:lstStyle/>
                    <a:p>
                      <a:pPr>
                        <a:defRPr sz="1300" b="0">
                          <a:solidFill>
                            <a:srgbClr val="1B2735"/>
                          </a:solidFill>
                          <a:latin typeface="Aptos"/>
                        </a:defRPr>
                      </a:pPr>
                      <a:r>
                        <a:t>VAFB SLC-4E</a:t>
                      </a:r>
                    </a:p>
                  </a:txBody>
                  <a:tcPr>
                    <a:solidFill>
                      <a:srgbClr val="FFFFFF"/>
                    </a:solidFill>
                  </a:tcPr>
                </a:tc>
                <a:tc>
                  <a:txBody>
                    <a:bodyPr/>
                    <a:lstStyle/>
                    <a:p>
                      <a:pPr>
                        <a:defRPr sz="1300" b="0">
                          <a:solidFill>
                            <a:srgbClr val="1B2735"/>
                          </a:solidFill>
                          <a:latin typeface="Aptos"/>
                        </a:defRPr>
                      </a:pPr>
                      <a:r>
                        <a:t>10</a:t>
                      </a:r>
                    </a:p>
                  </a:txBody>
                  <a:tcPr>
                    <a:solidFill>
                      <a:srgbClr val="FFFFFF"/>
                    </a:solidFill>
                  </a:tcPr>
                </a:tc>
                <a:tc>
                  <a:txBody>
                    <a:bodyPr/>
                    <a:lstStyle/>
                    <a:p>
                      <a:pPr>
                        <a:defRPr sz="1300" b="0">
                          <a:solidFill>
                            <a:srgbClr val="1B2735"/>
                          </a:solidFill>
                          <a:latin typeface="Aptos"/>
                        </a:defRPr>
                      </a:pPr>
                      <a:r>
                        <a:t>4</a:t>
                      </a:r>
                    </a:p>
                  </a:txBody>
                  <a:tcPr>
                    <a:solidFill>
                      <a:srgbClr val="FFFFFF"/>
                    </a:solidFill>
                  </a:tcPr>
                </a:tc>
                <a:tc>
                  <a:txBody>
                    <a:bodyPr/>
                    <a:lstStyle/>
                    <a:p>
                      <a:pPr>
                        <a:defRPr sz="1300" b="0">
                          <a:solidFill>
                            <a:srgbClr val="1B2735"/>
                          </a:solidFill>
                          <a:latin typeface="Aptos"/>
                        </a:defRPr>
                      </a:pPr>
                      <a:r>
                        <a:t>40.00 %</a:t>
                      </a:r>
                    </a:p>
                  </a:txBody>
                  <a:tcPr>
                    <a:solidFill>
                      <a:srgbClr val="FFFFFF"/>
                    </a:solidFill>
                  </a:tcPr>
                </a:tc>
                <a:extLst>
                  <a:ext uri="{0D108BD9-81ED-4DB2-BD59-A6C34878D82A}">
                    <a16:rowId xmlns:a16="http://schemas.microsoft.com/office/drawing/2014/main" val="10003"/>
                  </a:ext>
                </a:extLst>
              </a:tr>
              <a:tr h="658368">
                <a:tc>
                  <a:txBody>
                    <a:bodyPr/>
                    <a:lstStyle/>
                    <a:p>
                      <a:pPr>
                        <a:defRPr sz="1300" b="0">
                          <a:solidFill>
                            <a:srgbClr val="1B2735"/>
                          </a:solidFill>
                          <a:latin typeface="Aptos"/>
                        </a:defRPr>
                      </a:pPr>
                      <a:r>
                        <a:t>CCAFS SLC-40</a:t>
                      </a:r>
                    </a:p>
                  </a:txBody>
                  <a:tcPr>
                    <a:solidFill>
                      <a:srgbClr val="EEF4F9"/>
                    </a:solidFill>
                  </a:tcPr>
                </a:tc>
                <a:tc>
                  <a:txBody>
                    <a:bodyPr/>
                    <a:lstStyle/>
                    <a:p>
                      <a:pPr>
                        <a:defRPr sz="1300" b="0">
                          <a:solidFill>
                            <a:srgbClr val="1B2735"/>
                          </a:solidFill>
                          <a:latin typeface="Aptos"/>
                        </a:defRPr>
                      </a:pPr>
                      <a:r>
                        <a:t>7</a:t>
                      </a:r>
                    </a:p>
                  </a:txBody>
                  <a:tcPr>
                    <a:solidFill>
                      <a:srgbClr val="EEF4F9"/>
                    </a:solidFill>
                  </a:tcPr>
                </a:tc>
                <a:tc>
                  <a:txBody>
                    <a:bodyPr/>
                    <a:lstStyle/>
                    <a:p>
                      <a:pPr>
                        <a:defRPr sz="1300" b="0">
                          <a:solidFill>
                            <a:srgbClr val="1B2735"/>
                          </a:solidFill>
                          <a:latin typeface="Aptos"/>
                        </a:defRPr>
                      </a:pPr>
                      <a:r>
                        <a:t>3</a:t>
                      </a:r>
                    </a:p>
                  </a:txBody>
                  <a:tcPr>
                    <a:solidFill>
                      <a:srgbClr val="EEF4F9"/>
                    </a:solidFill>
                  </a:tcPr>
                </a:tc>
                <a:tc>
                  <a:txBody>
                    <a:bodyPr/>
                    <a:lstStyle/>
                    <a:p>
                      <a:pPr>
                        <a:defRPr sz="1300" b="0">
                          <a:solidFill>
                            <a:srgbClr val="1B2735"/>
                          </a:solidFill>
                          <a:latin typeface="Aptos"/>
                        </a:defRPr>
                      </a:pPr>
                      <a:r>
                        <a:t>42.86 %</a:t>
                      </a:r>
                    </a:p>
                  </a:txBody>
                  <a:tcPr>
                    <a:solidFill>
                      <a:srgbClr val="EEF4F9"/>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8412480" y="1645920"/>
            <a:ext cx="2834640" cy="457200"/>
          </a:xfrm>
          <a:prstGeom prst="rect">
            <a:avLst/>
          </a:prstGeom>
          <a:noFill/>
        </p:spPr>
        <p:txBody>
          <a:bodyPr wrap="square" lIns="36576" tIns="18288" rIns="36576" bIns="18288">
            <a:spAutoFit/>
          </a:bodyPr>
          <a:lstStyle/>
          <a:p>
            <a:pPr>
              <a:defRPr sz="1800" b="1">
                <a:solidFill>
                  <a:srgbClr val="1A5DAB"/>
                </a:solidFill>
                <a:latin typeface="Aptos"/>
              </a:defRPr>
            </a:pPr>
            <a:r>
              <a:t>À retenir</a:t>
            </a:r>
          </a:p>
        </p:txBody>
      </p:sp>
      <p:sp>
        <p:nvSpPr>
          <p:cNvPr id="8" name="TextBox 7"/>
          <p:cNvSpPr txBox="1"/>
          <p:nvPr/>
        </p:nvSpPr>
        <p:spPr>
          <a:xfrm>
            <a:off x="8412480" y="2148840"/>
            <a:ext cx="2834640" cy="2651760"/>
          </a:xfrm>
          <a:prstGeom prst="rect">
            <a:avLst/>
          </a:prstGeom>
          <a:noFill/>
        </p:spPr>
        <p:txBody>
          <a:bodyPr wrap="square" lIns="73152" rIns="54864">
            <a:spAutoFit/>
          </a:bodyPr>
          <a:lstStyle/>
          <a:p>
            <a:pPr>
              <a:spcAft>
                <a:spcPts val="900"/>
              </a:spcAft>
              <a:defRPr sz="1400">
                <a:solidFill>
                  <a:srgbClr val="1B2735"/>
                </a:solidFill>
                <a:latin typeface="Aptos"/>
              </a:defRPr>
            </a:pPr>
            <a:r>
              <a:t>•  KSC LC-39A : meilleur taux observé (76,92 %).</a:t>
            </a:r>
          </a:p>
          <a:p>
            <a:pPr>
              <a:spcAft>
                <a:spcPts val="900"/>
              </a:spcAft>
              <a:defRPr sz="1400">
                <a:solidFill>
                  <a:srgbClr val="1B2735"/>
                </a:solidFill>
                <a:latin typeface="Aptos"/>
              </a:defRPr>
            </a:pPr>
            <a:r>
              <a:t>•  CCAFS LC-40 : plus grand volume (26 lancements), mais taux le plus faible (26,92 %).</a:t>
            </a:r>
          </a:p>
          <a:p>
            <a:pPr>
              <a:spcAft>
                <a:spcPts val="900"/>
              </a:spcAft>
              <a:defRPr sz="1400">
                <a:solidFill>
                  <a:srgbClr val="1B2735"/>
                </a:solidFill>
                <a:latin typeface="Aptos"/>
              </a:defRPr>
            </a:pPr>
            <a:r>
              <a:t>•  Les effectifs diffèrent fortement selon les sites.</a:t>
            </a:r>
          </a:p>
        </p:txBody>
      </p:sp>
      <p:sp>
        <p:nvSpPr>
          <p:cNvPr id="9" name="TextBox 8"/>
          <p:cNvSpPr txBox="1"/>
          <p:nvPr/>
        </p:nvSpPr>
        <p:spPr>
          <a:xfrm>
            <a:off x="502920" y="6510528"/>
            <a:ext cx="9144000" cy="164592"/>
          </a:xfrm>
          <a:prstGeom prst="rect">
            <a:avLst/>
          </a:prstGeom>
          <a:noFill/>
        </p:spPr>
        <p:txBody>
          <a:bodyPr wrap="square" lIns="36576" tIns="18288" rIns="36576" bIns="18288">
            <a:spAutoFit/>
          </a:bodyPr>
          <a:lstStyle/>
          <a:p>
            <a:pPr>
              <a:defRPr sz="800" b="0">
                <a:solidFill>
                  <a:srgbClr val="566577"/>
                </a:solidFill>
                <a:latin typeface="Aptos"/>
              </a:defRPr>
            </a:pPr>
            <a:r>
              <a:t>Projet SpaceX Falcon 9 • Analyse descriptive et tableau de bord interactif</a:t>
            </a:r>
          </a:p>
        </p:txBody>
      </p:sp>
      <p:sp>
        <p:nvSpPr>
          <p:cNvPr id="10" name="TextBox 9"/>
          <p:cNvSpPr txBox="1"/>
          <p:nvPr/>
        </p:nvSpPr>
        <p:spPr>
          <a:xfrm>
            <a:off x="10972800" y="6492240"/>
            <a:ext cx="640080" cy="182880"/>
          </a:xfrm>
          <a:prstGeom prst="rect">
            <a:avLst/>
          </a:prstGeom>
          <a:noFill/>
        </p:spPr>
        <p:txBody>
          <a:bodyPr wrap="square" lIns="36576" tIns="18288" rIns="36576" bIns="18288">
            <a:spAutoFit/>
          </a:bodyPr>
          <a:lstStyle/>
          <a:p>
            <a:pPr algn="r">
              <a:defRPr sz="900" b="0">
                <a:solidFill>
                  <a:srgbClr val="566577"/>
                </a:solidFill>
                <a:latin typeface="Aptos"/>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lIns="36576" tIns="18288" rIns="36576" bIns="18288">
            <a:spAutoFit/>
          </a:bodyPr>
          <a:lstStyle/>
          <a:p>
            <a:pPr>
              <a:defRPr sz="900" b="1">
                <a:solidFill>
                  <a:srgbClr val="1A5DAB"/>
                </a:solidFill>
                <a:latin typeface="Aptos"/>
              </a:defRPr>
            </a:pPr>
            <a:r>
              <a:t>SPACE X • APPLIED DATA SCIENCE CAPSTONE</a:t>
            </a:r>
          </a:p>
        </p:txBody>
      </p:sp>
      <p:sp>
        <p:nvSpPr>
          <p:cNvPr id="4" name="TextBox 3"/>
          <p:cNvSpPr txBox="1"/>
          <p:nvPr/>
        </p:nvSpPr>
        <p:spPr>
          <a:xfrm>
            <a:off x="502920" y="566928"/>
            <a:ext cx="11155680" cy="530352"/>
          </a:xfrm>
          <a:prstGeom prst="rect">
            <a:avLst/>
          </a:prstGeom>
          <a:noFill/>
        </p:spPr>
        <p:txBody>
          <a:bodyPr wrap="square" lIns="36576" tIns="18288" rIns="36576" bIns="18288">
            <a:spAutoFit/>
          </a:bodyPr>
          <a:lstStyle/>
          <a:p>
            <a:pPr>
              <a:defRPr sz="2700" b="1">
                <a:solidFill>
                  <a:srgbClr val="0B1930"/>
                </a:solidFill>
                <a:latin typeface="Aptos"/>
              </a:defRPr>
            </a:pPr>
            <a:r>
              <a:t>Résultats — charge utile</a:t>
            </a:r>
          </a:p>
        </p:txBody>
      </p:sp>
      <p:sp>
        <p:nvSpPr>
          <p:cNvPr id="5" name="Rectangle 4"/>
          <p:cNvSpPr/>
          <p:nvPr/>
        </p:nvSpPr>
        <p:spPr>
          <a:xfrm>
            <a:off x="502920" y="1170432"/>
            <a:ext cx="11155680" cy="32004"/>
          </a:xfrm>
          <a:prstGeom prst="rect">
            <a:avLst/>
          </a:prstGeom>
          <a:solidFill>
            <a:srgbClr val="00B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594360" y="1371600"/>
          <a:ext cx="7498080" cy="42976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477520">
                <a:tc>
                  <a:txBody>
                    <a:bodyPr/>
                    <a:lstStyle/>
                    <a:p>
                      <a:pPr>
                        <a:defRPr sz="1300" b="1">
                          <a:solidFill>
                            <a:srgbClr val="FFFFFF"/>
                          </a:solidFill>
                          <a:latin typeface="Aptos"/>
                        </a:defRPr>
                      </a:pPr>
                      <a:r>
                        <a:t>Intervalle</a:t>
                      </a:r>
                    </a:p>
                  </a:txBody>
                  <a:tcPr>
                    <a:solidFill>
                      <a:srgbClr val="0B1930"/>
                    </a:solidFill>
                  </a:tcPr>
                </a:tc>
                <a:tc>
                  <a:txBody>
                    <a:bodyPr/>
                    <a:lstStyle/>
                    <a:p>
                      <a:pPr>
                        <a:defRPr sz="1300" b="1">
                          <a:solidFill>
                            <a:srgbClr val="FFFFFF"/>
                          </a:solidFill>
                          <a:latin typeface="Aptos"/>
                        </a:defRPr>
                      </a:pPr>
                      <a:r>
                        <a:t>Lancements</a:t>
                      </a:r>
                    </a:p>
                  </a:txBody>
                  <a:tcPr>
                    <a:solidFill>
                      <a:srgbClr val="0B1930"/>
                    </a:solidFill>
                  </a:tcPr>
                </a:tc>
                <a:tc>
                  <a:txBody>
                    <a:bodyPr/>
                    <a:lstStyle/>
                    <a:p>
                      <a:pPr>
                        <a:defRPr sz="1300" b="1">
                          <a:solidFill>
                            <a:srgbClr val="FFFFFF"/>
                          </a:solidFill>
                          <a:latin typeface="Aptos"/>
                        </a:defRPr>
                      </a:pPr>
                      <a:r>
                        <a:t>Succès</a:t>
                      </a:r>
                    </a:p>
                  </a:txBody>
                  <a:tcPr>
                    <a:solidFill>
                      <a:srgbClr val="0B1930"/>
                    </a:solidFill>
                  </a:tcPr>
                </a:tc>
                <a:tc>
                  <a:txBody>
                    <a:bodyPr/>
                    <a:lstStyle/>
                    <a:p>
                      <a:pPr>
                        <a:defRPr sz="1300" b="1">
                          <a:solidFill>
                            <a:srgbClr val="FFFFFF"/>
                          </a:solidFill>
                          <a:latin typeface="Aptos"/>
                        </a:defRPr>
                      </a:pPr>
                      <a:r>
                        <a:t>Taux de succès</a:t>
                      </a:r>
                    </a:p>
                  </a:txBody>
                  <a:tcPr>
                    <a:solidFill>
                      <a:srgbClr val="0B1930"/>
                    </a:solidFill>
                  </a:tcPr>
                </a:tc>
                <a:extLst>
                  <a:ext uri="{0D108BD9-81ED-4DB2-BD59-A6C34878D82A}">
                    <a16:rowId xmlns:a16="http://schemas.microsoft.com/office/drawing/2014/main" val="10000"/>
                  </a:ext>
                </a:extLst>
              </a:tr>
              <a:tr h="477520">
                <a:tc>
                  <a:txBody>
                    <a:bodyPr/>
                    <a:lstStyle/>
                    <a:p>
                      <a:pPr>
                        <a:defRPr sz="1200" b="0">
                          <a:solidFill>
                            <a:srgbClr val="1B2735"/>
                          </a:solidFill>
                          <a:latin typeface="Aptos"/>
                        </a:defRPr>
                      </a:pPr>
                      <a:r>
                        <a:t>0–1 000 kg</a:t>
                      </a:r>
                    </a:p>
                  </a:txBody>
                  <a:tcPr>
                    <a:solidFill>
                      <a:srgbClr val="FFFFFF"/>
                    </a:solidFill>
                  </a:tcPr>
                </a:tc>
                <a:tc>
                  <a:txBody>
                    <a:bodyPr/>
                    <a:lstStyle/>
                    <a:p>
                      <a:pPr>
                        <a:defRPr sz="1200" b="0">
                          <a:solidFill>
                            <a:srgbClr val="1B2735"/>
                          </a:solidFill>
                          <a:latin typeface="Aptos"/>
                        </a:defRPr>
                      </a:pPr>
                      <a:r>
                        <a:t>10</a:t>
                      </a:r>
                    </a:p>
                  </a:txBody>
                  <a:tcPr>
                    <a:solidFill>
                      <a:srgbClr val="FFFFFF"/>
                    </a:solidFill>
                  </a:tcPr>
                </a:tc>
                <a:tc>
                  <a:txBody>
                    <a:bodyPr/>
                    <a:lstStyle/>
                    <a:p>
                      <a:pPr>
                        <a:defRPr sz="1200" b="0">
                          <a:solidFill>
                            <a:srgbClr val="1B2735"/>
                          </a:solidFill>
                          <a:latin typeface="Aptos"/>
                        </a:defRPr>
                      </a:pPr>
                      <a:r>
                        <a:t>2</a:t>
                      </a:r>
                    </a:p>
                  </a:txBody>
                  <a:tcPr>
                    <a:solidFill>
                      <a:srgbClr val="FFFFFF"/>
                    </a:solidFill>
                  </a:tcPr>
                </a:tc>
                <a:tc>
                  <a:txBody>
                    <a:bodyPr/>
                    <a:lstStyle/>
                    <a:p>
                      <a:pPr>
                        <a:defRPr sz="1200" b="0">
                          <a:solidFill>
                            <a:srgbClr val="1B2735"/>
                          </a:solidFill>
                          <a:latin typeface="Aptos"/>
                        </a:defRPr>
                      </a:pPr>
                      <a:r>
                        <a:t>20.00 %</a:t>
                      </a:r>
                    </a:p>
                  </a:txBody>
                  <a:tcPr>
                    <a:solidFill>
                      <a:srgbClr val="FFFFFF"/>
                    </a:solidFill>
                  </a:tcPr>
                </a:tc>
                <a:extLst>
                  <a:ext uri="{0D108BD9-81ED-4DB2-BD59-A6C34878D82A}">
                    <a16:rowId xmlns:a16="http://schemas.microsoft.com/office/drawing/2014/main" val="10001"/>
                  </a:ext>
                </a:extLst>
              </a:tr>
              <a:tr h="477520">
                <a:tc>
                  <a:txBody>
                    <a:bodyPr/>
                    <a:lstStyle/>
                    <a:p>
                      <a:pPr>
                        <a:defRPr sz="1200" b="0">
                          <a:solidFill>
                            <a:srgbClr val="1B2735"/>
                          </a:solidFill>
                          <a:latin typeface="Aptos"/>
                        </a:defRPr>
                      </a:pPr>
                      <a:r>
                        <a:t>1 000–2 000 kg</a:t>
                      </a:r>
                    </a:p>
                  </a:txBody>
                  <a:tcPr>
                    <a:solidFill>
                      <a:srgbClr val="EEF4F9"/>
                    </a:solidFill>
                  </a:tcPr>
                </a:tc>
                <a:tc>
                  <a:txBody>
                    <a:bodyPr/>
                    <a:lstStyle/>
                    <a:p>
                      <a:pPr>
                        <a:defRPr sz="1200" b="0">
                          <a:solidFill>
                            <a:srgbClr val="1B2735"/>
                          </a:solidFill>
                          <a:latin typeface="Aptos"/>
                        </a:defRPr>
                      </a:pPr>
                      <a:r>
                        <a:t>3</a:t>
                      </a:r>
                    </a:p>
                  </a:txBody>
                  <a:tcPr>
                    <a:solidFill>
                      <a:srgbClr val="EEF4F9"/>
                    </a:solidFill>
                  </a:tcPr>
                </a:tc>
                <a:tc>
                  <a:txBody>
                    <a:bodyPr/>
                    <a:lstStyle/>
                    <a:p>
                      <a:pPr>
                        <a:defRPr sz="1200" b="0">
                          <a:solidFill>
                            <a:srgbClr val="1B2735"/>
                          </a:solidFill>
                          <a:latin typeface="Aptos"/>
                        </a:defRPr>
                      </a:pPr>
                      <a:r>
                        <a:t>1</a:t>
                      </a:r>
                    </a:p>
                  </a:txBody>
                  <a:tcPr>
                    <a:solidFill>
                      <a:srgbClr val="EEF4F9"/>
                    </a:solidFill>
                  </a:tcPr>
                </a:tc>
                <a:tc>
                  <a:txBody>
                    <a:bodyPr/>
                    <a:lstStyle/>
                    <a:p>
                      <a:pPr>
                        <a:defRPr sz="1200" b="0">
                          <a:solidFill>
                            <a:srgbClr val="1B2735"/>
                          </a:solidFill>
                          <a:latin typeface="Aptos"/>
                        </a:defRPr>
                      </a:pPr>
                      <a:r>
                        <a:t>33.33 %</a:t>
                      </a:r>
                    </a:p>
                  </a:txBody>
                  <a:tcPr>
                    <a:solidFill>
                      <a:srgbClr val="EEF4F9"/>
                    </a:solidFill>
                  </a:tcPr>
                </a:tc>
                <a:extLst>
                  <a:ext uri="{0D108BD9-81ED-4DB2-BD59-A6C34878D82A}">
                    <a16:rowId xmlns:a16="http://schemas.microsoft.com/office/drawing/2014/main" val="10002"/>
                  </a:ext>
                </a:extLst>
              </a:tr>
              <a:tr h="477520">
                <a:tc>
                  <a:txBody>
                    <a:bodyPr/>
                    <a:lstStyle/>
                    <a:p>
                      <a:pPr>
                        <a:defRPr sz="1200" b="0">
                          <a:solidFill>
                            <a:srgbClr val="1B2735"/>
                          </a:solidFill>
                          <a:latin typeface="Aptos"/>
                        </a:defRPr>
                      </a:pPr>
                      <a:r>
                        <a:t>2 000–3 000 kg</a:t>
                      </a:r>
                    </a:p>
                  </a:txBody>
                  <a:tcPr>
                    <a:solidFill>
                      <a:srgbClr val="FFFFFF"/>
                    </a:solidFill>
                  </a:tcPr>
                </a:tc>
                <a:tc>
                  <a:txBody>
                    <a:bodyPr/>
                    <a:lstStyle/>
                    <a:p>
                      <a:pPr>
                        <a:defRPr sz="1200" b="0">
                          <a:solidFill>
                            <a:srgbClr val="1B2735"/>
                          </a:solidFill>
                          <a:latin typeface="Aptos"/>
                        </a:defRPr>
                      </a:pPr>
                      <a:r>
                        <a:t>10</a:t>
                      </a:r>
                    </a:p>
                  </a:txBody>
                  <a:tcPr>
                    <a:solidFill>
                      <a:srgbClr val="FFFFFF"/>
                    </a:solidFill>
                  </a:tcPr>
                </a:tc>
                <a:tc>
                  <a:txBody>
                    <a:bodyPr/>
                    <a:lstStyle/>
                    <a:p>
                      <a:pPr>
                        <a:defRPr sz="1200" b="0">
                          <a:solidFill>
                            <a:srgbClr val="1B2735"/>
                          </a:solidFill>
                          <a:latin typeface="Aptos"/>
                        </a:defRPr>
                      </a:pPr>
                      <a:r>
                        <a:t>5</a:t>
                      </a:r>
                    </a:p>
                  </a:txBody>
                  <a:tcPr>
                    <a:solidFill>
                      <a:srgbClr val="FFFFFF"/>
                    </a:solidFill>
                  </a:tcPr>
                </a:tc>
                <a:tc>
                  <a:txBody>
                    <a:bodyPr/>
                    <a:lstStyle/>
                    <a:p>
                      <a:pPr>
                        <a:defRPr sz="1200" b="0">
                          <a:solidFill>
                            <a:srgbClr val="1B2735"/>
                          </a:solidFill>
                          <a:latin typeface="Aptos"/>
                        </a:defRPr>
                      </a:pPr>
                      <a:r>
                        <a:t>50.00 %</a:t>
                      </a:r>
                    </a:p>
                  </a:txBody>
                  <a:tcPr>
                    <a:solidFill>
                      <a:srgbClr val="FFFFFF"/>
                    </a:solidFill>
                  </a:tcPr>
                </a:tc>
                <a:extLst>
                  <a:ext uri="{0D108BD9-81ED-4DB2-BD59-A6C34878D82A}">
                    <a16:rowId xmlns:a16="http://schemas.microsoft.com/office/drawing/2014/main" val="10003"/>
                  </a:ext>
                </a:extLst>
              </a:tr>
              <a:tr h="477520">
                <a:tc>
                  <a:txBody>
                    <a:bodyPr/>
                    <a:lstStyle/>
                    <a:p>
                      <a:pPr>
                        <a:defRPr sz="1200" b="0">
                          <a:solidFill>
                            <a:srgbClr val="1B2735"/>
                          </a:solidFill>
                          <a:latin typeface="Aptos"/>
                        </a:defRPr>
                      </a:pPr>
                      <a:r>
                        <a:t>3 000–4 000 kg</a:t>
                      </a:r>
                    </a:p>
                  </a:txBody>
                  <a:tcPr>
                    <a:solidFill>
                      <a:srgbClr val="EEF4F9"/>
                    </a:solidFill>
                  </a:tcPr>
                </a:tc>
                <a:tc>
                  <a:txBody>
                    <a:bodyPr/>
                    <a:lstStyle/>
                    <a:p>
                      <a:pPr>
                        <a:defRPr sz="1200" b="0">
                          <a:solidFill>
                            <a:srgbClr val="1B2735"/>
                          </a:solidFill>
                          <a:latin typeface="Aptos"/>
                        </a:defRPr>
                      </a:pPr>
                      <a:r>
                        <a:t>11</a:t>
                      </a:r>
                    </a:p>
                  </a:txBody>
                  <a:tcPr>
                    <a:solidFill>
                      <a:srgbClr val="EEF4F9"/>
                    </a:solidFill>
                  </a:tcPr>
                </a:tc>
                <a:tc>
                  <a:txBody>
                    <a:bodyPr/>
                    <a:lstStyle/>
                    <a:p>
                      <a:pPr>
                        <a:defRPr sz="1200" b="0">
                          <a:solidFill>
                            <a:srgbClr val="1B2735"/>
                          </a:solidFill>
                          <a:latin typeface="Aptos"/>
                        </a:defRPr>
                      </a:pPr>
                      <a:r>
                        <a:t>8</a:t>
                      </a:r>
                    </a:p>
                  </a:txBody>
                  <a:tcPr>
                    <a:solidFill>
                      <a:srgbClr val="EEF4F9"/>
                    </a:solidFill>
                  </a:tcPr>
                </a:tc>
                <a:tc>
                  <a:txBody>
                    <a:bodyPr/>
                    <a:lstStyle/>
                    <a:p>
                      <a:pPr>
                        <a:defRPr sz="1200" b="0">
                          <a:solidFill>
                            <a:srgbClr val="1B2735"/>
                          </a:solidFill>
                          <a:latin typeface="Aptos"/>
                        </a:defRPr>
                      </a:pPr>
                      <a:r>
                        <a:t>72.73 %</a:t>
                      </a:r>
                    </a:p>
                  </a:txBody>
                  <a:tcPr>
                    <a:solidFill>
                      <a:srgbClr val="EEF4F9"/>
                    </a:solidFill>
                  </a:tcPr>
                </a:tc>
                <a:extLst>
                  <a:ext uri="{0D108BD9-81ED-4DB2-BD59-A6C34878D82A}">
                    <a16:rowId xmlns:a16="http://schemas.microsoft.com/office/drawing/2014/main" val="10004"/>
                  </a:ext>
                </a:extLst>
              </a:tr>
              <a:tr h="477520">
                <a:tc>
                  <a:txBody>
                    <a:bodyPr/>
                    <a:lstStyle/>
                    <a:p>
                      <a:pPr>
                        <a:defRPr sz="1200" b="0">
                          <a:solidFill>
                            <a:srgbClr val="1B2735"/>
                          </a:solidFill>
                          <a:latin typeface="Aptos"/>
                        </a:defRPr>
                      </a:pPr>
                      <a:r>
                        <a:t>4 000–5 000 kg</a:t>
                      </a:r>
                    </a:p>
                  </a:txBody>
                  <a:tcPr>
                    <a:solidFill>
                      <a:srgbClr val="FFFFFF"/>
                    </a:solidFill>
                  </a:tcPr>
                </a:tc>
                <a:tc>
                  <a:txBody>
                    <a:bodyPr/>
                    <a:lstStyle/>
                    <a:p>
                      <a:pPr>
                        <a:defRPr sz="1200" b="0">
                          <a:solidFill>
                            <a:srgbClr val="1B2735"/>
                          </a:solidFill>
                          <a:latin typeface="Aptos"/>
                        </a:defRPr>
                      </a:pPr>
                      <a:r>
                        <a:t>8</a:t>
                      </a:r>
                    </a:p>
                  </a:txBody>
                  <a:tcPr>
                    <a:solidFill>
                      <a:srgbClr val="FFFFFF"/>
                    </a:solidFill>
                  </a:tcPr>
                </a:tc>
                <a:tc>
                  <a:txBody>
                    <a:bodyPr/>
                    <a:lstStyle/>
                    <a:p>
                      <a:pPr>
                        <a:defRPr sz="1200" b="0">
                          <a:solidFill>
                            <a:srgbClr val="1B2735"/>
                          </a:solidFill>
                          <a:latin typeface="Aptos"/>
                        </a:defRPr>
                      </a:pPr>
                      <a:r>
                        <a:t>3</a:t>
                      </a:r>
                    </a:p>
                  </a:txBody>
                  <a:tcPr>
                    <a:solidFill>
                      <a:srgbClr val="FFFFFF"/>
                    </a:solidFill>
                  </a:tcPr>
                </a:tc>
                <a:tc>
                  <a:txBody>
                    <a:bodyPr/>
                    <a:lstStyle/>
                    <a:p>
                      <a:pPr>
                        <a:defRPr sz="1200" b="0">
                          <a:solidFill>
                            <a:srgbClr val="1B2735"/>
                          </a:solidFill>
                          <a:latin typeface="Aptos"/>
                        </a:defRPr>
                      </a:pPr>
                      <a:r>
                        <a:t>37.50 %</a:t>
                      </a:r>
                    </a:p>
                  </a:txBody>
                  <a:tcPr>
                    <a:solidFill>
                      <a:srgbClr val="FFFFFF"/>
                    </a:solidFill>
                  </a:tcPr>
                </a:tc>
                <a:extLst>
                  <a:ext uri="{0D108BD9-81ED-4DB2-BD59-A6C34878D82A}">
                    <a16:rowId xmlns:a16="http://schemas.microsoft.com/office/drawing/2014/main" val="10005"/>
                  </a:ext>
                </a:extLst>
              </a:tr>
              <a:tr h="477520">
                <a:tc>
                  <a:txBody>
                    <a:bodyPr/>
                    <a:lstStyle/>
                    <a:p>
                      <a:pPr>
                        <a:defRPr sz="1200" b="0">
                          <a:solidFill>
                            <a:srgbClr val="1B2735"/>
                          </a:solidFill>
                          <a:latin typeface="Aptos"/>
                        </a:defRPr>
                      </a:pPr>
                      <a:r>
                        <a:t>5 000–6 000 kg</a:t>
                      </a:r>
                    </a:p>
                  </a:txBody>
                  <a:tcPr>
                    <a:solidFill>
                      <a:srgbClr val="EEF4F9"/>
                    </a:solidFill>
                  </a:tcPr>
                </a:tc>
                <a:tc>
                  <a:txBody>
                    <a:bodyPr/>
                    <a:lstStyle/>
                    <a:p>
                      <a:pPr>
                        <a:defRPr sz="1200" b="0">
                          <a:solidFill>
                            <a:srgbClr val="1B2735"/>
                          </a:solidFill>
                          <a:latin typeface="Aptos"/>
                        </a:defRPr>
                      </a:pPr>
                      <a:r>
                        <a:t>5</a:t>
                      </a:r>
                    </a:p>
                  </a:txBody>
                  <a:tcPr>
                    <a:solidFill>
                      <a:srgbClr val="EEF4F9"/>
                    </a:solidFill>
                  </a:tcPr>
                </a:tc>
                <a:tc>
                  <a:txBody>
                    <a:bodyPr/>
                    <a:lstStyle/>
                    <a:p>
                      <a:pPr>
                        <a:defRPr sz="1200" b="0">
                          <a:solidFill>
                            <a:srgbClr val="1B2735"/>
                          </a:solidFill>
                          <a:latin typeface="Aptos"/>
                        </a:defRPr>
                      </a:pPr>
                      <a:r>
                        <a:t>2</a:t>
                      </a:r>
                    </a:p>
                  </a:txBody>
                  <a:tcPr>
                    <a:solidFill>
                      <a:srgbClr val="EEF4F9"/>
                    </a:solidFill>
                  </a:tcPr>
                </a:tc>
                <a:tc>
                  <a:txBody>
                    <a:bodyPr/>
                    <a:lstStyle/>
                    <a:p>
                      <a:pPr>
                        <a:defRPr sz="1200" b="0">
                          <a:solidFill>
                            <a:srgbClr val="1B2735"/>
                          </a:solidFill>
                          <a:latin typeface="Aptos"/>
                        </a:defRPr>
                      </a:pPr>
                      <a:r>
                        <a:t>40.00 %</a:t>
                      </a:r>
                    </a:p>
                  </a:txBody>
                  <a:tcPr>
                    <a:solidFill>
                      <a:srgbClr val="EEF4F9"/>
                    </a:solidFill>
                  </a:tcPr>
                </a:tc>
                <a:extLst>
                  <a:ext uri="{0D108BD9-81ED-4DB2-BD59-A6C34878D82A}">
                    <a16:rowId xmlns:a16="http://schemas.microsoft.com/office/drawing/2014/main" val="10006"/>
                  </a:ext>
                </a:extLst>
              </a:tr>
              <a:tr h="477520">
                <a:tc>
                  <a:txBody>
                    <a:bodyPr/>
                    <a:lstStyle/>
                    <a:p>
                      <a:pPr>
                        <a:defRPr sz="1200" b="0">
                          <a:solidFill>
                            <a:srgbClr val="1B2735"/>
                          </a:solidFill>
                          <a:latin typeface="Aptos"/>
                        </a:defRPr>
                      </a:pPr>
                      <a:r>
                        <a:t>6 000–7 000 kg</a:t>
                      </a:r>
                    </a:p>
                  </a:txBody>
                  <a:tcPr>
                    <a:solidFill>
                      <a:srgbClr val="FFFFFF"/>
                    </a:solidFill>
                  </a:tcPr>
                </a:tc>
                <a:tc>
                  <a:txBody>
                    <a:bodyPr/>
                    <a:lstStyle/>
                    <a:p>
                      <a:pPr>
                        <a:defRPr sz="1200" b="0">
                          <a:solidFill>
                            <a:srgbClr val="1B2735"/>
                          </a:solidFill>
                          <a:latin typeface="Aptos"/>
                        </a:defRPr>
                      </a:pPr>
                      <a:r>
                        <a:t>4</a:t>
                      </a:r>
                    </a:p>
                  </a:txBody>
                  <a:tcPr>
                    <a:solidFill>
                      <a:srgbClr val="FFFFFF"/>
                    </a:solidFill>
                  </a:tcPr>
                </a:tc>
                <a:tc>
                  <a:txBody>
                    <a:bodyPr/>
                    <a:lstStyle/>
                    <a:p>
                      <a:pPr>
                        <a:defRPr sz="1200" b="0">
                          <a:solidFill>
                            <a:srgbClr val="1B2735"/>
                          </a:solidFill>
                          <a:latin typeface="Aptos"/>
                        </a:defRPr>
                      </a:pPr>
                      <a:r>
                        <a:t>0</a:t>
                      </a:r>
                    </a:p>
                  </a:txBody>
                  <a:tcPr>
                    <a:solidFill>
                      <a:srgbClr val="FFFFFF"/>
                    </a:solidFill>
                  </a:tcPr>
                </a:tc>
                <a:tc>
                  <a:txBody>
                    <a:bodyPr/>
                    <a:lstStyle/>
                    <a:p>
                      <a:pPr>
                        <a:defRPr sz="1200" b="0">
                          <a:solidFill>
                            <a:srgbClr val="1B2735"/>
                          </a:solidFill>
                          <a:latin typeface="Aptos"/>
                        </a:defRPr>
                      </a:pPr>
                      <a:r>
                        <a:t>0.00 %</a:t>
                      </a:r>
                    </a:p>
                  </a:txBody>
                  <a:tcPr>
                    <a:solidFill>
                      <a:srgbClr val="FFFFFF"/>
                    </a:solidFill>
                  </a:tcPr>
                </a:tc>
                <a:extLst>
                  <a:ext uri="{0D108BD9-81ED-4DB2-BD59-A6C34878D82A}">
                    <a16:rowId xmlns:a16="http://schemas.microsoft.com/office/drawing/2014/main" val="10007"/>
                  </a:ext>
                </a:extLst>
              </a:tr>
              <a:tr h="477520">
                <a:tc>
                  <a:txBody>
                    <a:bodyPr/>
                    <a:lstStyle/>
                    <a:p>
                      <a:pPr>
                        <a:defRPr sz="1200" b="0">
                          <a:solidFill>
                            <a:srgbClr val="1B2735"/>
                          </a:solidFill>
                          <a:latin typeface="Aptos"/>
                        </a:defRPr>
                      </a:pPr>
                      <a:r>
                        <a:t>9 000–10 000 kg</a:t>
                      </a:r>
                    </a:p>
                  </a:txBody>
                  <a:tcPr>
                    <a:solidFill>
                      <a:srgbClr val="EEF4F9"/>
                    </a:solidFill>
                  </a:tcPr>
                </a:tc>
                <a:tc>
                  <a:txBody>
                    <a:bodyPr/>
                    <a:lstStyle/>
                    <a:p>
                      <a:pPr>
                        <a:defRPr sz="1200" b="0">
                          <a:solidFill>
                            <a:srgbClr val="1B2735"/>
                          </a:solidFill>
                          <a:latin typeface="Aptos"/>
                        </a:defRPr>
                      </a:pPr>
                      <a:r>
                        <a:t>5</a:t>
                      </a:r>
                    </a:p>
                  </a:txBody>
                  <a:tcPr>
                    <a:solidFill>
                      <a:srgbClr val="EEF4F9"/>
                    </a:solidFill>
                  </a:tcPr>
                </a:tc>
                <a:tc>
                  <a:txBody>
                    <a:bodyPr/>
                    <a:lstStyle/>
                    <a:p>
                      <a:pPr>
                        <a:defRPr sz="1200" b="0">
                          <a:solidFill>
                            <a:srgbClr val="1B2735"/>
                          </a:solidFill>
                          <a:latin typeface="Aptos"/>
                        </a:defRPr>
                      </a:pPr>
                      <a:r>
                        <a:t>3</a:t>
                      </a:r>
                    </a:p>
                  </a:txBody>
                  <a:tcPr>
                    <a:solidFill>
                      <a:srgbClr val="EEF4F9"/>
                    </a:solidFill>
                  </a:tcPr>
                </a:tc>
                <a:tc>
                  <a:txBody>
                    <a:bodyPr/>
                    <a:lstStyle/>
                    <a:p>
                      <a:pPr>
                        <a:defRPr sz="1200" b="0">
                          <a:solidFill>
                            <a:srgbClr val="1B2735"/>
                          </a:solidFill>
                          <a:latin typeface="Aptos"/>
                        </a:defRPr>
                      </a:pPr>
                      <a:r>
                        <a:t>60.00 %</a:t>
                      </a:r>
                    </a:p>
                  </a:txBody>
                  <a:tcPr>
                    <a:solidFill>
                      <a:srgbClr val="EEF4F9"/>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8366760" y="1554480"/>
            <a:ext cx="3017520" cy="457200"/>
          </a:xfrm>
          <a:prstGeom prst="rect">
            <a:avLst/>
          </a:prstGeom>
          <a:noFill/>
        </p:spPr>
        <p:txBody>
          <a:bodyPr wrap="square" lIns="36576" tIns="18288" rIns="36576" bIns="18288">
            <a:spAutoFit/>
          </a:bodyPr>
          <a:lstStyle/>
          <a:p>
            <a:pPr>
              <a:defRPr sz="1800" b="1">
                <a:solidFill>
                  <a:srgbClr val="1A5DAB"/>
                </a:solidFill>
                <a:latin typeface="Aptos"/>
              </a:defRPr>
            </a:pPr>
            <a:r>
              <a:t>Lecture prudente</a:t>
            </a:r>
          </a:p>
        </p:txBody>
      </p:sp>
      <p:sp>
        <p:nvSpPr>
          <p:cNvPr id="8" name="TextBox 7"/>
          <p:cNvSpPr txBox="1"/>
          <p:nvPr/>
        </p:nvSpPr>
        <p:spPr>
          <a:xfrm>
            <a:off x="8366760" y="2057400"/>
            <a:ext cx="3063240" cy="3108960"/>
          </a:xfrm>
          <a:prstGeom prst="rect">
            <a:avLst/>
          </a:prstGeom>
          <a:noFill/>
        </p:spPr>
        <p:txBody>
          <a:bodyPr wrap="square" lIns="73152" rIns="54864">
            <a:spAutoFit/>
          </a:bodyPr>
          <a:lstStyle/>
          <a:p>
            <a:pPr>
              <a:spcAft>
                <a:spcPts val="900"/>
              </a:spcAft>
              <a:defRPr sz="1400">
                <a:solidFill>
                  <a:srgbClr val="1B2735"/>
                </a:solidFill>
                <a:latin typeface="Aptos"/>
              </a:defRPr>
            </a:pPr>
            <a:r>
              <a:t>•  Le taux le plus élevé parmi les intervalles affichés est 72,73 % pour 3 000–4 000 kg.</a:t>
            </a:r>
          </a:p>
          <a:p>
            <a:pPr>
              <a:spcAft>
                <a:spcPts val="900"/>
              </a:spcAft>
              <a:defRPr sz="1400">
                <a:solidFill>
                  <a:srgbClr val="1B2735"/>
                </a:solidFill>
                <a:latin typeface="Aptos"/>
              </a:defRPr>
            </a:pPr>
            <a:r>
              <a:t>•  6 000–7 000 kg : 0 succès sur 4 lancements.</a:t>
            </a:r>
          </a:p>
          <a:p>
            <a:pPr>
              <a:spcAft>
                <a:spcPts val="900"/>
              </a:spcAft>
              <a:defRPr sz="1400">
                <a:solidFill>
                  <a:srgbClr val="1B2735"/>
                </a:solidFill>
                <a:latin typeface="Aptos"/>
              </a:defRPr>
            </a:pPr>
            <a:r>
              <a:t>•  Les intervalles absents n’ont aucun lancement exploitable dans ce tableau.</a:t>
            </a:r>
          </a:p>
        </p:txBody>
      </p:sp>
      <p:sp>
        <p:nvSpPr>
          <p:cNvPr id="9" name="TextBox 8"/>
          <p:cNvSpPr txBox="1"/>
          <p:nvPr/>
        </p:nvSpPr>
        <p:spPr>
          <a:xfrm>
            <a:off x="502920" y="6510528"/>
            <a:ext cx="9144000" cy="164592"/>
          </a:xfrm>
          <a:prstGeom prst="rect">
            <a:avLst/>
          </a:prstGeom>
          <a:noFill/>
        </p:spPr>
        <p:txBody>
          <a:bodyPr wrap="square" lIns="36576" tIns="18288" rIns="36576" bIns="18288">
            <a:spAutoFit/>
          </a:bodyPr>
          <a:lstStyle/>
          <a:p>
            <a:pPr>
              <a:defRPr sz="800" b="0">
                <a:solidFill>
                  <a:srgbClr val="566577"/>
                </a:solidFill>
                <a:latin typeface="Aptos"/>
              </a:defRPr>
            </a:pPr>
            <a:r>
              <a:t>Projet SpaceX Falcon 9 • Analyse descriptive et tableau de bord interactif</a:t>
            </a:r>
          </a:p>
        </p:txBody>
      </p:sp>
      <p:sp>
        <p:nvSpPr>
          <p:cNvPr id="10" name="TextBox 9"/>
          <p:cNvSpPr txBox="1"/>
          <p:nvPr/>
        </p:nvSpPr>
        <p:spPr>
          <a:xfrm>
            <a:off x="10972800" y="6492240"/>
            <a:ext cx="640080" cy="182880"/>
          </a:xfrm>
          <a:prstGeom prst="rect">
            <a:avLst/>
          </a:prstGeom>
          <a:noFill/>
        </p:spPr>
        <p:txBody>
          <a:bodyPr wrap="square" lIns="36576" tIns="18288" rIns="36576" bIns="18288">
            <a:spAutoFit/>
          </a:bodyPr>
          <a:lstStyle/>
          <a:p>
            <a:pPr algn="r">
              <a:defRPr sz="900" b="0">
                <a:solidFill>
                  <a:srgbClr val="566577"/>
                </a:solidFill>
                <a:latin typeface="Aptos"/>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lIns="36576" tIns="18288" rIns="36576" bIns="18288">
            <a:spAutoFit/>
          </a:bodyPr>
          <a:lstStyle/>
          <a:p>
            <a:pPr>
              <a:defRPr sz="900" b="1">
                <a:solidFill>
                  <a:srgbClr val="1A5DAB"/>
                </a:solidFill>
                <a:latin typeface="Aptos"/>
              </a:defRPr>
            </a:pPr>
            <a:r>
              <a:t>SPACE X • APPLIED DATA SCIENCE CAPSTONE</a:t>
            </a:r>
          </a:p>
        </p:txBody>
      </p:sp>
      <p:sp>
        <p:nvSpPr>
          <p:cNvPr id="4" name="TextBox 3"/>
          <p:cNvSpPr txBox="1"/>
          <p:nvPr/>
        </p:nvSpPr>
        <p:spPr>
          <a:xfrm>
            <a:off x="502920" y="566928"/>
            <a:ext cx="11155680" cy="530352"/>
          </a:xfrm>
          <a:prstGeom prst="rect">
            <a:avLst/>
          </a:prstGeom>
          <a:noFill/>
        </p:spPr>
        <p:txBody>
          <a:bodyPr wrap="square" lIns="36576" tIns="18288" rIns="36576" bIns="18288">
            <a:spAutoFit/>
          </a:bodyPr>
          <a:lstStyle/>
          <a:p>
            <a:pPr>
              <a:defRPr sz="2700" b="1">
                <a:solidFill>
                  <a:srgbClr val="0B1930"/>
                </a:solidFill>
                <a:latin typeface="Aptos"/>
              </a:defRPr>
            </a:pPr>
            <a:r>
              <a:t>Résultats — version du booster</a:t>
            </a:r>
          </a:p>
        </p:txBody>
      </p:sp>
      <p:sp>
        <p:nvSpPr>
          <p:cNvPr id="5" name="Rectangle 4"/>
          <p:cNvSpPr/>
          <p:nvPr/>
        </p:nvSpPr>
        <p:spPr>
          <a:xfrm>
            <a:off x="502920" y="1170432"/>
            <a:ext cx="11155680" cy="32004"/>
          </a:xfrm>
          <a:prstGeom prst="rect">
            <a:avLst/>
          </a:prstGeom>
          <a:solidFill>
            <a:srgbClr val="00B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508760"/>
          <a:ext cx="7315200" cy="310896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518160">
                <a:tc>
                  <a:txBody>
                    <a:bodyPr/>
                    <a:lstStyle/>
                    <a:p>
                      <a:pPr>
                        <a:defRPr sz="1400" b="1">
                          <a:solidFill>
                            <a:srgbClr val="FFFFFF"/>
                          </a:solidFill>
                          <a:latin typeface="Aptos"/>
                        </a:defRPr>
                      </a:pPr>
                      <a:r>
                        <a:t>Version</a:t>
                      </a:r>
                    </a:p>
                  </a:txBody>
                  <a:tcPr>
                    <a:solidFill>
                      <a:srgbClr val="0B1930"/>
                    </a:solidFill>
                  </a:tcPr>
                </a:tc>
                <a:tc>
                  <a:txBody>
                    <a:bodyPr/>
                    <a:lstStyle/>
                    <a:p>
                      <a:pPr>
                        <a:defRPr sz="1400" b="1">
                          <a:solidFill>
                            <a:srgbClr val="FFFFFF"/>
                          </a:solidFill>
                          <a:latin typeface="Aptos"/>
                        </a:defRPr>
                      </a:pPr>
                      <a:r>
                        <a:t>Lancements</a:t>
                      </a:r>
                    </a:p>
                  </a:txBody>
                  <a:tcPr>
                    <a:solidFill>
                      <a:srgbClr val="0B1930"/>
                    </a:solidFill>
                  </a:tcPr>
                </a:tc>
                <a:tc>
                  <a:txBody>
                    <a:bodyPr/>
                    <a:lstStyle/>
                    <a:p>
                      <a:pPr>
                        <a:defRPr sz="1400" b="1">
                          <a:solidFill>
                            <a:srgbClr val="FFFFFF"/>
                          </a:solidFill>
                          <a:latin typeface="Aptos"/>
                        </a:defRPr>
                      </a:pPr>
                      <a:r>
                        <a:t>Succès</a:t>
                      </a:r>
                    </a:p>
                  </a:txBody>
                  <a:tcPr>
                    <a:solidFill>
                      <a:srgbClr val="0B1930"/>
                    </a:solidFill>
                  </a:tcPr>
                </a:tc>
                <a:tc>
                  <a:txBody>
                    <a:bodyPr/>
                    <a:lstStyle/>
                    <a:p>
                      <a:pPr>
                        <a:defRPr sz="1400" b="1">
                          <a:solidFill>
                            <a:srgbClr val="FFFFFF"/>
                          </a:solidFill>
                          <a:latin typeface="Aptos"/>
                        </a:defRPr>
                      </a:pPr>
                      <a:r>
                        <a:t>Taux de succès</a:t>
                      </a:r>
                    </a:p>
                  </a:txBody>
                  <a:tcPr>
                    <a:solidFill>
                      <a:srgbClr val="0B1930"/>
                    </a:solidFill>
                  </a:tcPr>
                </a:tc>
                <a:extLst>
                  <a:ext uri="{0D108BD9-81ED-4DB2-BD59-A6C34878D82A}">
                    <a16:rowId xmlns:a16="http://schemas.microsoft.com/office/drawing/2014/main" val="10000"/>
                  </a:ext>
                </a:extLst>
              </a:tr>
              <a:tr h="518160">
                <a:tc>
                  <a:txBody>
                    <a:bodyPr/>
                    <a:lstStyle/>
                    <a:p>
                      <a:pPr>
                        <a:defRPr sz="1300" b="0">
                          <a:solidFill>
                            <a:srgbClr val="1B2735"/>
                          </a:solidFill>
                          <a:latin typeface="Aptos"/>
                        </a:defRPr>
                      </a:pPr>
                      <a:r>
                        <a:t>B5</a:t>
                      </a:r>
                    </a:p>
                  </a:txBody>
                  <a:tcPr>
                    <a:solidFill>
                      <a:srgbClr val="FFFFFF"/>
                    </a:solidFill>
                  </a:tcPr>
                </a:tc>
                <a:tc>
                  <a:txBody>
                    <a:bodyPr/>
                    <a:lstStyle/>
                    <a:p>
                      <a:pPr>
                        <a:defRPr sz="1300" b="0">
                          <a:solidFill>
                            <a:srgbClr val="1B2735"/>
                          </a:solidFill>
                          <a:latin typeface="Aptos"/>
                        </a:defRPr>
                      </a:pPr>
                      <a:r>
                        <a:t>1</a:t>
                      </a:r>
                    </a:p>
                  </a:txBody>
                  <a:tcPr>
                    <a:solidFill>
                      <a:srgbClr val="FFFFFF"/>
                    </a:solidFill>
                  </a:tcPr>
                </a:tc>
                <a:tc>
                  <a:txBody>
                    <a:bodyPr/>
                    <a:lstStyle/>
                    <a:p>
                      <a:pPr>
                        <a:defRPr sz="1300" b="0">
                          <a:solidFill>
                            <a:srgbClr val="1B2735"/>
                          </a:solidFill>
                          <a:latin typeface="Aptos"/>
                        </a:defRPr>
                      </a:pPr>
                      <a:r>
                        <a:t>1</a:t>
                      </a:r>
                    </a:p>
                  </a:txBody>
                  <a:tcPr>
                    <a:solidFill>
                      <a:srgbClr val="FFFFFF"/>
                    </a:solidFill>
                  </a:tcPr>
                </a:tc>
                <a:tc>
                  <a:txBody>
                    <a:bodyPr/>
                    <a:lstStyle/>
                    <a:p>
                      <a:pPr>
                        <a:defRPr sz="1300" b="0">
                          <a:solidFill>
                            <a:srgbClr val="1B2735"/>
                          </a:solidFill>
                          <a:latin typeface="Aptos"/>
                        </a:defRPr>
                      </a:pPr>
                      <a:r>
                        <a:t>100.00 %</a:t>
                      </a:r>
                    </a:p>
                  </a:txBody>
                  <a:tcPr>
                    <a:solidFill>
                      <a:srgbClr val="FFFFFF"/>
                    </a:solidFill>
                  </a:tcPr>
                </a:tc>
                <a:extLst>
                  <a:ext uri="{0D108BD9-81ED-4DB2-BD59-A6C34878D82A}">
                    <a16:rowId xmlns:a16="http://schemas.microsoft.com/office/drawing/2014/main" val="10001"/>
                  </a:ext>
                </a:extLst>
              </a:tr>
              <a:tr h="518160">
                <a:tc>
                  <a:txBody>
                    <a:bodyPr/>
                    <a:lstStyle/>
                    <a:p>
                      <a:pPr>
                        <a:defRPr sz="1300" b="0">
                          <a:solidFill>
                            <a:srgbClr val="1B2735"/>
                          </a:solidFill>
                          <a:latin typeface="Aptos"/>
                        </a:defRPr>
                      </a:pPr>
                      <a:r>
                        <a:t>FT</a:t>
                      </a:r>
                    </a:p>
                  </a:txBody>
                  <a:tcPr>
                    <a:solidFill>
                      <a:srgbClr val="EEF4F9"/>
                    </a:solidFill>
                  </a:tcPr>
                </a:tc>
                <a:tc>
                  <a:txBody>
                    <a:bodyPr/>
                    <a:lstStyle/>
                    <a:p>
                      <a:pPr>
                        <a:defRPr sz="1300" b="0">
                          <a:solidFill>
                            <a:srgbClr val="1B2735"/>
                          </a:solidFill>
                          <a:latin typeface="Aptos"/>
                        </a:defRPr>
                      </a:pPr>
                      <a:r>
                        <a:t>24</a:t>
                      </a:r>
                    </a:p>
                  </a:txBody>
                  <a:tcPr>
                    <a:solidFill>
                      <a:srgbClr val="EEF4F9"/>
                    </a:solidFill>
                  </a:tcPr>
                </a:tc>
                <a:tc>
                  <a:txBody>
                    <a:bodyPr/>
                    <a:lstStyle/>
                    <a:p>
                      <a:pPr>
                        <a:defRPr sz="1300" b="0">
                          <a:solidFill>
                            <a:srgbClr val="1B2735"/>
                          </a:solidFill>
                          <a:latin typeface="Aptos"/>
                        </a:defRPr>
                      </a:pPr>
                      <a:r>
                        <a:t>16</a:t>
                      </a:r>
                    </a:p>
                  </a:txBody>
                  <a:tcPr>
                    <a:solidFill>
                      <a:srgbClr val="EEF4F9"/>
                    </a:solidFill>
                  </a:tcPr>
                </a:tc>
                <a:tc>
                  <a:txBody>
                    <a:bodyPr/>
                    <a:lstStyle/>
                    <a:p>
                      <a:pPr>
                        <a:defRPr sz="1300" b="0">
                          <a:solidFill>
                            <a:srgbClr val="1B2735"/>
                          </a:solidFill>
                          <a:latin typeface="Aptos"/>
                        </a:defRPr>
                      </a:pPr>
                      <a:r>
                        <a:t>66.67 %</a:t>
                      </a:r>
                    </a:p>
                  </a:txBody>
                  <a:tcPr>
                    <a:solidFill>
                      <a:srgbClr val="EEF4F9"/>
                    </a:solidFill>
                  </a:tcPr>
                </a:tc>
                <a:extLst>
                  <a:ext uri="{0D108BD9-81ED-4DB2-BD59-A6C34878D82A}">
                    <a16:rowId xmlns:a16="http://schemas.microsoft.com/office/drawing/2014/main" val="10002"/>
                  </a:ext>
                </a:extLst>
              </a:tr>
              <a:tr h="518160">
                <a:tc>
                  <a:txBody>
                    <a:bodyPr/>
                    <a:lstStyle/>
                    <a:p>
                      <a:pPr>
                        <a:defRPr sz="1300" b="0">
                          <a:solidFill>
                            <a:srgbClr val="1B2735"/>
                          </a:solidFill>
                          <a:latin typeface="Aptos"/>
                        </a:defRPr>
                      </a:pPr>
                      <a:r>
                        <a:t>B4</a:t>
                      </a:r>
                    </a:p>
                  </a:txBody>
                  <a:tcPr>
                    <a:solidFill>
                      <a:srgbClr val="FFFFFF"/>
                    </a:solidFill>
                  </a:tcPr>
                </a:tc>
                <a:tc>
                  <a:txBody>
                    <a:bodyPr/>
                    <a:lstStyle/>
                    <a:p>
                      <a:pPr>
                        <a:defRPr sz="1300" b="0">
                          <a:solidFill>
                            <a:srgbClr val="1B2735"/>
                          </a:solidFill>
                          <a:latin typeface="Aptos"/>
                        </a:defRPr>
                      </a:pPr>
                      <a:r>
                        <a:t>11</a:t>
                      </a:r>
                    </a:p>
                  </a:txBody>
                  <a:tcPr>
                    <a:solidFill>
                      <a:srgbClr val="FFFFFF"/>
                    </a:solidFill>
                  </a:tcPr>
                </a:tc>
                <a:tc>
                  <a:txBody>
                    <a:bodyPr/>
                    <a:lstStyle/>
                    <a:p>
                      <a:pPr>
                        <a:defRPr sz="1300" b="0">
                          <a:solidFill>
                            <a:srgbClr val="1B2735"/>
                          </a:solidFill>
                          <a:latin typeface="Aptos"/>
                        </a:defRPr>
                      </a:pPr>
                      <a:r>
                        <a:t>6</a:t>
                      </a:r>
                    </a:p>
                  </a:txBody>
                  <a:tcPr>
                    <a:solidFill>
                      <a:srgbClr val="FFFFFF"/>
                    </a:solidFill>
                  </a:tcPr>
                </a:tc>
                <a:tc>
                  <a:txBody>
                    <a:bodyPr/>
                    <a:lstStyle/>
                    <a:p>
                      <a:pPr>
                        <a:defRPr sz="1300" b="0">
                          <a:solidFill>
                            <a:srgbClr val="1B2735"/>
                          </a:solidFill>
                          <a:latin typeface="Aptos"/>
                        </a:defRPr>
                      </a:pPr>
                      <a:r>
                        <a:t>54.55 %</a:t>
                      </a:r>
                    </a:p>
                  </a:txBody>
                  <a:tcPr>
                    <a:solidFill>
                      <a:srgbClr val="FFFFFF"/>
                    </a:solidFill>
                  </a:tcPr>
                </a:tc>
                <a:extLst>
                  <a:ext uri="{0D108BD9-81ED-4DB2-BD59-A6C34878D82A}">
                    <a16:rowId xmlns:a16="http://schemas.microsoft.com/office/drawing/2014/main" val="10003"/>
                  </a:ext>
                </a:extLst>
              </a:tr>
              <a:tr h="518160">
                <a:tc>
                  <a:txBody>
                    <a:bodyPr/>
                    <a:lstStyle/>
                    <a:p>
                      <a:pPr>
                        <a:defRPr sz="1300" b="0">
                          <a:solidFill>
                            <a:srgbClr val="1B2735"/>
                          </a:solidFill>
                          <a:latin typeface="Aptos"/>
                        </a:defRPr>
                      </a:pPr>
                      <a:r>
                        <a:t>v1.1</a:t>
                      </a:r>
                    </a:p>
                  </a:txBody>
                  <a:tcPr>
                    <a:solidFill>
                      <a:srgbClr val="EEF4F9"/>
                    </a:solidFill>
                  </a:tcPr>
                </a:tc>
                <a:tc>
                  <a:txBody>
                    <a:bodyPr/>
                    <a:lstStyle/>
                    <a:p>
                      <a:pPr>
                        <a:defRPr sz="1300" b="0">
                          <a:solidFill>
                            <a:srgbClr val="1B2735"/>
                          </a:solidFill>
                          <a:latin typeface="Aptos"/>
                        </a:defRPr>
                      </a:pPr>
                      <a:r>
                        <a:t>15</a:t>
                      </a:r>
                    </a:p>
                  </a:txBody>
                  <a:tcPr>
                    <a:solidFill>
                      <a:srgbClr val="EEF4F9"/>
                    </a:solidFill>
                  </a:tcPr>
                </a:tc>
                <a:tc>
                  <a:txBody>
                    <a:bodyPr/>
                    <a:lstStyle/>
                    <a:p>
                      <a:pPr>
                        <a:defRPr sz="1300" b="0">
                          <a:solidFill>
                            <a:srgbClr val="1B2735"/>
                          </a:solidFill>
                          <a:latin typeface="Aptos"/>
                        </a:defRPr>
                      </a:pPr>
                      <a:r>
                        <a:t>1</a:t>
                      </a:r>
                    </a:p>
                  </a:txBody>
                  <a:tcPr>
                    <a:solidFill>
                      <a:srgbClr val="EEF4F9"/>
                    </a:solidFill>
                  </a:tcPr>
                </a:tc>
                <a:tc>
                  <a:txBody>
                    <a:bodyPr/>
                    <a:lstStyle/>
                    <a:p>
                      <a:pPr>
                        <a:defRPr sz="1300" b="0">
                          <a:solidFill>
                            <a:srgbClr val="1B2735"/>
                          </a:solidFill>
                          <a:latin typeface="Aptos"/>
                        </a:defRPr>
                      </a:pPr>
                      <a:r>
                        <a:t>6.67 %</a:t>
                      </a:r>
                    </a:p>
                  </a:txBody>
                  <a:tcPr>
                    <a:solidFill>
                      <a:srgbClr val="EEF4F9"/>
                    </a:solidFill>
                  </a:tcPr>
                </a:tc>
                <a:extLst>
                  <a:ext uri="{0D108BD9-81ED-4DB2-BD59-A6C34878D82A}">
                    <a16:rowId xmlns:a16="http://schemas.microsoft.com/office/drawing/2014/main" val="10004"/>
                  </a:ext>
                </a:extLst>
              </a:tr>
              <a:tr h="518160">
                <a:tc>
                  <a:txBody>
                    <a:bodyPr/>
                    <a:lstStyle/>
                    <a:p>
                      <a:pPr>
                        <a:defRPr sz="1300" b="0">
                          <a:solidFill>
                            <a:srgbClr val="1B2735"/>
                          </a:solidFill>
                          <a:latin typeface="Aptos"/>
                        </a:defRPr>
                      </a:pPr>
                      <a:r>
                        <a:t>v1.0</a:t>
                      </a:r>
                    </a:p>
                  </a:txBody>
                  <a:tcPr>
                    <a:solidFill>
                      <a:srgbClr val="FFFFFF"/>
                    </a:solidFill>
                  </a:tcPr>
                </a:tc>
                <a:tc>
                  <a:txBody>
                    <a:bodyPr/>
                    <a:lstStyle/>
                    <a:p>
                      <a:pPr>
                        <a:defRPr sz="1300" b="0">
                          <a:solidFill>
                            <a:srgbClr val="1B2735"/>
                          </a:solidFill>
                          <a:latin typeface="Aptos"/>
                        </a:defRPr>
                      </a:pPr>
                      <a:r>
                        <a:t>5</a:t>
                      </a:r>
                    </a:p>
                  </a:txBody>
                  <a:tcPr>
                    <a:solidFill>
                      <a:srgbClr val="FFFFFF"/>
                    </a:solidFill>
                  </a:tcPr>
                </a:tc>
                <a:tc>
                  <a:txBody>
                    <a:bodyPr/>
                    <a:lstStyle/>
                    <a:p>
                      <a:pPr>
                        <a:defRPr sz="1300" b="0">
                          <a:solidFill>
                            <a:srgbClr val="1B2735"/>
                          </a:solidFill>
                          <a:latin typeface="Aptos"/>
                        </a:defRPr>
                      </a:pPr>
                      <a:r>
                        <a:t>0</a:t>
                      </a:r>
                    </a:p>
                  </a:txBody>
                  <a:tcPr>
                    <a:solidFill>
                      <a:srgbClr val="FFFFFF"/>
                    </a:solidFill>
                  </a:tcPr>
                </a:tc>
                <a:tc>
                  <a:txBody>
                    <a:bodyPr/>
                    <a:lstStyle/>
                    <a:p>
                      <a:pPr>
                        <a:defRPr sz="1300" b="0">
                          <a:solidFill>
                            <a:srgbClr val="1B2735"/>
                          </a:solidFill>
                          <a:latin typeface="Aptos"/>
                        </a:defRPr>
                      </a:pPr>
                      <a:r>
                        <a:t>0.00 %</a:t>
                      </a:r>
                    </a:p>
                  </a:txBody>
                  <a:tcP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8366760" y="1645920"/>
            <a:ext cx="3017520" cy="457200"/>
          </a:xfrm>
          <a:prstGeom prst="rect">
            <a:avLst/>
          </a:prstGeom>
          <a:noFill/>
        </p:spPr>
        <p:txBody>
          <a:bodyPr wrap="square" lIns="36576" tIns="18288" rIns="36576" bIns="18288">
            <a:spAutoFit/>
          </a:bodyPr>
          <a:lstStyle/>
          <a:p>
            <a:pPr>
              <a:defRPr sz="1800" b="1">
                <a:solidFill>
                  <a:srgbClr val="1A5DAB"/>
                </a:solidFill>
                <a:latin typeface="Aptos"/>
              </a:defRPr>
            </a:pPr>
            <a:r>
              <a:t>Point d’attention</a:t>
            </a:r>
          </a:p>
        </p:txBody>
      </p:sp>
      <p:sp>
        <p:nvSpPr>
          <p:cNvPr id="8" name="TextBox 7"/>
          <p:cNvSpPr txBox="1"/>
          <p:nvPr/>
        </p:nvSpPr>
        <p:spPr>
          <a:xfrm>
            <a:off x="8366760" y="2148840"/>
            <a:ext cx="3063240" cy="2926080"/>
          </a:xfrm>
          <a:prstGeom prst="rect">
            <a:avLst/>
          </a:prstGeom>
          <a:noFill/>
        </p:spPr>
        <p:txBody>
          <a:bodyPr wrap="square" lIns="73152" rIns="54864">
            <a:spAutoFit/>
          </a:bodyPr>
          <a:lstStyle/>
          <a:p>
            <a:pPr>
              <a:spcAft>
                <a:spcPts val="900"/>
              </a:spcAft>
              <a:defRPr sz="1400">
                <a:solidFill>
                  <a:srgbClr val="1B2735"/>
                </a:solidFill>
                <a:latin typeface="Aptos"/>
              </a:defRPr>
            </a:pPr>
            <a:r>
              <a:t>•  FT : 16 succès sur 24 lancements (66,67 %).</a:t>
            </a:r>
          </a:p>
          <a:p>
            <a:pPr>
              <a:spcAft>
                <a:spcPts val="900"/>
              </a:spcAft>
              <a:defRPr sz="1400">
                <a:solidFill>
                  <a:srgbClr val="1B2735"/>
                </a:solidFill>
                <a:latin typeface="Aptos"/>
              </a:defRPr>
            </a:pPr>
            <a:r>
              <a:t>•  B5 : 100 % mais un seul lancement ; effectif insuffisant pour conclure à une fiabilité supérieure.</a:t>
            </a:r>
          </a:p>
          <a:p>
            <a:pPr>
              <a:spcAft>
                <a:spcPts val="900"/>
              </a:spcAft>
              <a:defRPr sz="1400">
                <a:solidFill>
                  <a:srgbClr val="1B2735"/>
                </a:solidFill>
                <a:latin typeface="Aptos"/>
              </a:defRPr>
            </a:pPr>
            <a:r>
              <a:t>•  Ces écarts sont descriptifs, non causaux.</a:t>
            </a:r>
          </a:p>
        </p:txBody>
      </p:sp>
      <p:sp>
        <p:nvSpPr>
          <p:cNvPr id="9" name="TextBox 8"/>
          <p:cNvSpPr txBox="1"/>
          <p:nvPr/>
        </p:nvSpPr>
        <p:spPr>
          <a:xfrm>
            <a:off x="502920" y="6510528"/>
            <a:ext cx="9144000" cy="164592"/>
          </a:xfrm>
          <a:prstGeom prst="rect">
            <a:avLst/>
          </a:prstGeom>
          <a:noFill/>
        </p:spPr>
        <p:txBody>
          <a:bodyPr wrap="square" lIns="36576" tIns="18288" rIns="36576" bIns="18288">
            <a:spAutoFit/>
          </a:bodyPr>
          <a:lstStyle/>
          <a:p>
            <a:pPr>
              <a:defRPr sz="800" b="0">
                <a:solidFill>
                  <a:srgbClr val="566577"/>
                </a:solidFill>
                <a:latin typeface="Aptos"/>
              </a:defRPr>
            </a:pPr>
            <a:r>
              <a:t>Projet SpaceX Falcon 9 • Analyse descriptive et tableau de bord interactif</a:t>
            </a:r>
          </a:p>
        </p:txBody>
      </p:sp>
      <p:sp>
        <p:nvSpPr>
          <p:cNvPr id="10" name="TextBox 9"/>
          <p:cNvSpPr txBox="1"/>
          <p:nvPr/>
        </p:nvSpPr>
        <p:spPr>
          <a:xfrm>
            <a:off x="10972800" y="6492240"/>
            <a:ext cx="640080" cy="182880"/>
          </a:xfrm>
          <a:prstGeom prst="rect">
            <a:avLst/>
          </a:prstGeom>
          <a:noFill/>
        </p:spPr>
        <p:txBody>
          <a:bodyPr wrap="square" lIns="36576" tIns="18288" rIns="36576" bIns="18288">
            <a:spAutoFit/>
          </a:bodyPr>
          <a:lstStyle/>
          <a:p>
            <a:pPr algn="r">
              <a:defRPr sz="900" b="0">
                <a:solidFill>
                  <a:srgbClr val="566577"/>
                </a:solidFill>
                <a:latin typeface="Aptos"/>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lIns="36576" tIns="18288" rIns="36576" bIns="18288">
            <a:spAutoFit/>
          </a:bodyPr>
          <a:lstStyle/>
          <a:p>
            <a:pPr>
              <a:defRPr sz="900" b="1">
                <a:solidFill>
                  <a:srgbClr val="1A5DAB"/>
                </a:solidFill>
                <a:latin typeface="Aptos"/>
              </a:defRPr>
            </a:pPr>
            <a:r>
              <a:t>APPLIED DATA SCIENCE CAPSTONE • SPACEX FALCON 9</a:t>
            </a:r>
          </a:p>
        </p:txBody>
      </p:sp>
      <p:sp>
        <p:nvSpPr>
          <p:cNvPr id="4" name="TextBox 3"/>
          <p:cNvSpPr txBox="1"/>
          <p:nvPr/>
        </p:nvSpPr>
        <p:spPr>
          <a:xfrm>
            <a:off x="502920" y="566928"/>
            <a:ext cx="11155680" cy="530352"/>
          </a:xfrm>
          <a:prstGeom prst="rect">
            <a:avLst/>
          </a:prstGeom>
          <a:noFill/>
        </p:spPr>
        <p:txBody>
          <a:bodyPr wrap="square" lIns="36576" tIns="18288" rIns="36576" bIns="18288">
            <a:spAutoFit/>
          </a:bodyPr>
          <a:lstStyle/>
          <a:p>
            <a:pPr>
              <a:defRPr sz="2700" b="1">
                <a:solidFill>
                  <a:srgbClr val="0B1930"/>
                </a:solidFill>
                <a:latin typeface="Aptos"/>
              </a:defRPr>
            </a:pPr>
            <a:r>
              <a:t>Tableau de bord interactif — Plotly Dash</a:t>
            </a:r>
          </a:p>
        </p:txBody>
      </p:sp>
      <p:sp>
        <p:nvSpPr>
          <p:cNvPr id="5" name="Rectangle 4"/>
          <p:cNvSpPr/>
          <p:nvPr/>
        </p:nvSpPr>
        <p:spPr>
          <a:xfrm>
            <a:off x="502920" y="1170432"/>
            <a:ext cx="11155680" cy="32004"/>
          </a:xfrm>
          <a:prstGeom prst="rect">
            <a:avLst/>
          </a:prstGeom>
          <a:solidFill>
            <a:srgbClr val="00B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08760"/>
            <a:ext cx="10789920" cy="4480560"/>
          </a:xfrm>
          <a:prstGeom prst="rect">
            <a:avLst/>
          </a:prstGeom>
          <a:noFill/>
        </p:spPr>
        <p:txBody>
          <a:bodyPr wrap="square" lIns="73152" rIns="54864">
            <a:spAutoFit/>
          </a:bodyPr>
          <a:lstStyle/>
          <a:p>
            <a:pPr>
              <a:spcAft>
                <a:spcPts val="900"/>
              </a:spcAft>
              <a:defRPr sz="1800">
                <a:solidFill>
                  <a:srgbClr val="1B2735"/>
                </a:solidFill>
                <a:latin typeface="Aptos"/>
              </a:defRPr>
            </a:pPr>
            <a:r>
              <a:t>•  Menu déroulant : sélection d’un site ou affichage de tous les sites.</a:t>
            </a:r>
          </a:p>
          <a:p>
            <a:pPr>
              <a:spcAft>
                <a:spcPts val="900"/>
              </a:spcAft>
              <a:defRPr sz="1800">
                <a:solidFill>
                  <a:srgbClr val="1B2735"/>
                </a:solidFill>
                <a:latin typeface="Aptos"/>
              </a:defRPr>
            </a:pPr>
            <a:r>
              <a:t>•  Diagramme circulaire : pour « Tous les sites », répartition des lancements réussis par site ; pour un site donné, comparaison succès/échecs.</a:t>
            </a:r>
          </a:p>
          <a:p>
            <a:pPr>
              <a:spcAft>
                <a:spcPts val="900"/>
              </a:spcAft>
              <a:defRPr sz="1800">
                <a:solidFill>
                  <a:srgbClr val="1B2735"/>
                </a:solidFill>
                <a:latin typeface="Aptos"/>
              </a:defRPr>
            </a:pPr>
            <a:r>
              <a:t>•  Curseur de charge utile : filtre les observations entre deux masses choisies.</a:t>
            </a:r>
          </a:p>
          <a:p>
            <a:pPr>
              <a:spcAft>
                <a:spcPts val="900"/>
              </a:spcAft>
              <a:defRPr sz="1800">
                <a:solidFill>
                  <a:srgbClr val="1B2735"/>
                </a:solidFill>
                <a:latin typeface="Aptos"/>
              </a:defRPr>
            </a:pPr>
            <a:r>
              <a:t>•  Nuage de points : charge utile en abscisse, résultat (0/1) en ordonnée, couleur selon la version du booster.</a:t>
            </a:r>
          </a:p>
          <a:p>
            <a:pPr>
              <a:spcAft>
                <a:spcPts val="900"/>
              </a:spcAft>
              <a:defRPr sz="1800">
                <a:solidFill>
                  <a:srgbClr val="1B2735"/>
                </a:solidFill>
                <a:latin typeface="Aptos"/>
              </a:defRPr>
            </a:pPr>
            <a:r>
              <a:t>•  Validation fonctionnelle effectuée dans l’environnement Theia : menu, diagramme circulaire, curseur et nuage de points ont tous été testés par l’utilisateur.</a:t>
            </a:r>
          </a:p>
        </p:txBody>
      </p:sp>
      <p:sp>
        <p:nvSpPr>
          <p:cNvPr id="7" name="TextBox 6"/>
          <p:cNvSpPr txBox="1"/>
          <p:nvPr/>
        </p:nvSpPr>
        <p:spPr>
          <a:xfrm>
            <a:off x="502920" y="6510528"/>
            <a:ext cx="9144000" cy="164592"/>
          </a:xfrm>
          <a:prstGeom prst="rect">
            <a:avLst/>
          </a:prstGeom>
          <a:noFill/>
        </p:spPr>
        <p:txBody>
          <a:bodyPr wrap="square" lIns="36576" tIns="18288" rIns="36576" bIns="18288">
            <a:spAutoFit/>
          </a:bodyPr>
          <a:lstStyle/>
          <a:p>
            <a:pPr>
              <a:defRPr sz="800" b="0">
                <a:solidFill>
                  <a:srgbClr val="566577"/>
                </a:solidFill>
                <a:latin typeface="Aptos"/>
              </a:defRPr>
            </a:pPr>
            <a:r>
              <a:t>Projet SpaceX Falcon 9 • Analyse descriptive et tableau de bord interactif</a:t>
            </a:r>
          </a:p>
        </p:txBody>
      </p:sp>
      <p:sp>
        <p:nvSpPr>
          <p:cNvPr id="8" name="TextBox 7"/>
          <p:cNvSpPr txBox="1"/>
          <p:nvPr/>
        </p:nvSpPr>
        <p:spPr>
          <a:xfrm>
            <a:off x="10972800" y="6492240"/>
            <a:ext cx="640080" cy="182880"/>
          </a:xfrm>
          <a:prstGeom prst="rect">
            <a:avLst/>
          </a:prstGeom>
          <a:noFill/>
        </p:spPr>
        <p:txBody>
          <a:bodyPr wrap="square" lIns="36576" tIns="18288" rIns="36576" bIns="18288">
            <a:spAutoFit/>
          </a:bodyPr>
          <a:lstStyle/>
          <a:p>
            <a:pPr algn="r">
              <a:defRPr sz="900" b="0">
                <a:solidFill>
                  <a:srgbClr val="566577"/>
                </a:solidFill>
                <a:latin typeface="Aptos"/>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lIns="36576" tIns="18288" rIns="36576" bIns="18288">
            <a:spAutoFit/>
          </a:bodyPr>
          <a:lstStyle/>
          <a:p>
            <a:pPr>
              <a:defRPr sz="900" b="1">
                <a:solidFill>
                  <a:srgbClr val="1A5DAB"/>
                </a:solidFill>
                <a:latin typeface="Aptos"/>
              </a:defRPr>
            </a:pPr>
            <a:r>
              <a:t>APPLIED DATA SCIENCE CAPSTONE • SPACEX FALCON 9</a:t>
            </a:r>
          </a:p>
        </p:txBody>
      </p:sp>
      <p:sp>
        <p:nvSpPr>
          <p:cNvPr id="4" name="TextBox 3"/>
          <p:cNvSpPr txBox="1"/>
          <p:nvPr/>
        </p:nvSpPr>
        <p:spPr>
          <a:xfrm>
            <a:off x="457200" y="598932"/>
            <a:ext cx="11155680" cy="530352"/>
          </a:xfrm>
          <a:prstGeom prst="rect">
            <a:avLst/>
          </a:prstGeom>
          <a:noFill/>
        </p:spPr>
        <p:txBody>
          <a:bodyPr wrap="square" lIns="36576" tIns="18288" rIns="36576" bIns="18288">
            <a:spAutoFit/>
          </a:bodyPr>
          <a:lstStyle/>
          <a:p>
            <a:pPr>
              <a:defRPr sz="2700" b="1">
                <a:solidFill>
                  <a:srgbClr val="0B1930"/>
                </a:solidFill>
                <a:latin typeface="Aptos"/>
              </a:defRPr>
            </a:pPr>
            <a:r>
              <a:rPr dirty="0" err="1"/>
              <a:t>Enseignements</a:t>
            </a:r>
            <a:r>
              <a:rPr dirty="0"/>
              <a:t> </a:t>
            </a:r>
            <a:r>
              <a:rPr dirty="0" err="1"/>
              <a:t>tirés</a:t>
            </a:r>
            <a:r>
              <a:rPr dirty="0"/>
              <a:t> du tableau de bord</a:t>
            </a:r>
          </a:p>
        </p:txBody>
      </p:sp>
      <p:sp>
        <p:nvSpPr>
          <p:cNvPr id="5" name="Rectangle 4"/>
          <p:cNvSpPr/>
          <p:nvPr/>
        </p:nvSpPr>
        <p:spPr>
          <a:xfrm>
            <a:off x="502920" y="1170432"/>
            <a:ext cx="11155680" cy="32004"/>
          </a:xfrm>
          <a:prstGeom prst="rect">
            <a:avLst/>
          </a:prstGeom>
          <a:solidFill>
            <a:srgbClr val="00B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08760"/>
            <a:ext cx="10789920" cy="4480560"/>
          </a:xfrm>
          <a:prstGeom prst="rect">
            <a:avLst/>
          </a:prstGeom>
          <a:noFill/>
        </p:spPr>
        <p:txBody>
          <a:bodyPr wrap="square" lIns="73152" rIns="54864">
            <a:spAutoFit/>
          </a:bodyPr>
          <a:lstStyle/>
          <a:p>
            <a:pPr>
              <a:spcAft>
                <a:spcPts val="900"/>
              </a:spcAft>
              <a:defRPr sz="1800">
                <a:solidFill>
                  <a:srgbClr val="1B2735"/>
                </a:solidFill>
                <a:latin typeface="Aptos"/>
              </a:defRPr>
            </a:pPr>
            <a:r>
              <a:rPr dirty="0"/>
              <a:t>•  La </a:t>
            </a:r>
            <a:r>
              <a:rPr dirty="0" err="1"/>
              <a:t>sélection</a:t>
            </a:r>
            <a:r>
              <a:rPr dirty="0"/>
              <a:t> du site </a:t>
            </a:r>
            <a:r>
              <a:rPr dirty="0" err="1"/>
              <a:t>modifie</a:t>
            </a:r>
            <a:r>
              <a:rPr dirty="0"/>
              <a:t> les observations </a:t>
            </a:r>
            <a:r>
              <a:rPr dirty="0" err="1"/>
              <a:t>présentées</a:t>
            </a:r>
            <a:r>
              <a:rPr dirty="0"/>
              <a:t> et </a:t>
            </a:r>
            <a:r>
              <a:rPr dirty="0" err="1"/>
              <a:t>permet</a:t>
            </a:r>
            <a:r>
              <a:rPr dirty="0"/>
              <a:t> </a:t>
            </a:r>
            <a:r>
              <a:rPr dirty="0" err="1"/>
              <a:t>d’examiner</a:t>
            </a:r>
            <a:r>
              <a:rPr dirty="0"/>
              <a:t> les </a:t>
            </a:r>
            <a:r>
              <a:rPr dirty="0" err="1"/>
              <a:t>différences</a:t>
            </a:r>
            <a:r>
              <a:rPr dirty="0"/>
              <a:t> de </a:t>
            </a:r>
            <a:r>
              <a:rPr dirty="0" err="1"/>
              <a:t>résultats</a:t>
            </a:r>
            <a:r>
              <a:rPr dirty="0"/>
              <a:t> entre sites.</a:t>
            </a:r>
          </a:p>
          <a:p>
            <a:pPr>
              <a:spcAft>
                <a:spcPts val="900"/>
              </a:spcAft>
              <a:defRPr sz="1800">
                <a:solidFill>
                  <a:srgbClr val="1B2735"/>
                </a:solidFill>
                <a:latin typeface="Aptos"/>
              </a:defRPr>
            </a:pPr>
            <a:r>
              <a:rPr dirty="0"/>
              <a:t>•  Le </a:t>
            </a:r>
            <a:r>
              <a:rPr dirty="0" err="1"/>
              <a:t>filtre</a:t>
            </a:r>
            <a:r>
              <a:rPr dirty="0"/>
              <a:t> de charge utile </a:t>
            </a:r>
            <a:r>
              <a:rPr dirty="0" err="1"/>
              <a:t>permet</a:t>
            </a:r>
            <a:r>
              <a:rPr dirty="0"/>
              <a:t> de limiter </a:t>
            </a:r>
            <a:r>
              <a:rPr dirty="0" err="1"/>
              <a:t>l’analyse</a:t>
            </a:r>
            <a:r>
              <a:rPr dirty="0"/>
              <a:t> à </a:t>
            </a:r>
            <a:r>
              <a:rPr dirty="0" err="1"/>
              <a:t>une</a:t>
            </a:r>
            <a:r>
              <a:rPr dirty="0"/>
              <a:t> plage de masse, sans modifier le jeu de données source.</a:t>
            </a:r>
          </a:p>
          <a:p>
            <a:pPr>
              <a:spcAft>
                <a:spcPts val="900"/>
              </a:spcAft>
              <a:defRPr sz="1800">
                <a:solidFill>
                  <a:srgbClr val="1B2735"/>
                </a:solidFill>
                <a:latin typeface="Aptos"/>
              </a:defRPr>
            </a:pPr>
            <a:r>
              <a:rPr dirty="0"/>
              <a:t>•  La couleur des points </a:t>
            </a:r>
            <a:r>
              <a:rPr dirty="0" err="1"/>
              <a:t>facilite</a:t>
            </a:r>
            <a:r>
              <a:rPr dirty="0"/>
              <a:t> la </a:t>
            </a:r>
            <a:r>
              <a:rPr dirty="0" err="1"/>
              <a:t>comparaison</a:t>
            </a:r>
            <a:r>
              <a:rPr dirty="0"/>
              <a:t> </a:t>
            </a:r>
            <a:r>
              <a:rPr dirty="0" err="1"/>
              <a:t>visuelle</a:t>
            </a:r>
            <a:r>
              <a:rPr dirty="0"/>
              <a:t> entre </a:t>
            </a:r>
            <a:r>
              <a:rPr dirty="0" err="1"/>
              <a:t>catégories</a:t>
            </a:r>
            <a:r>
              <a:rPr dirty="0"/>
              <a:t> de booster.</a:t>
            </a:r>
          </a:p>
          <a:p>
            <a:pPr>
              <a:spcAft>
                <a:spcPts val="900"/>
              </a:spcAft>
              <a:defRPr sz="1800">
                <a:solidFill>
                  <a:srgbClr val="1B2735"/>
                </a:solidFill>
                <a:latin typeface="Aptos"/>
              </a:defRPr>
            </a:pPr>
            <a:r>
              <a:rPr dirty="0"/>
              <a:t>•  </a:t>
            </a:r>
            <a:r>
              <a:rPr dirty="0" err="1"/>
              <a:t>L’interface</a:t>
            </a:r>
            <a:r>
              <a:rPr dirty="0"/>
              <a:t> est un </a:t>
            </a:r>
            <a:r>
              <a:rPr dirty="0" err="1"/>
              <a:t>outil</a:t>
            </a:r>
            <a:r>
              <a:rPr dirty="0"/>
              <a:t> </a:t>
            </a:r>
            <a:r>
              <a:rPr dirty="0" err="1"/>
              <a:t>d’exploration</a:t>
            </a:r>
            <a:r>
              <a:rPr dirty="0"/>
              <a:t> : les </a:t>
            </a:r>
            <a:r>
              <a:rPr dirty="0" err="1"/>
              <a:t>écarts</a:t>
            </a:r>
            <a:r>
              <a:rPr dirty="0"/>
              <a:t> </a:t>
            </a:r>
            <a:r>
              <a:rPr dirty="0" err="1"/>
              <a:t>visuels</a:t>
            </a:r>
            <a:r>
              <a:rPr dirty="0"/>
              <a:t> ne </a:t>
            </a:r>
            <a:r>
              <a:rPr dirty="0" err="1"/>
              <a:t>suffisent</a:t>
            </a:r>
            <a:r>
              <a:rPr dirty="0"/>
              <a:t> pas à </a:t>
            </a:r>
            <a:r>
              <a:rPr dirty="0" err="1"/>
              <a:t>démontrer</a:t>
            </a:r>
            <a:r>
              <a:rPr dirty="0"/>
              <a:t> </a:t>
            </a:r>
            <a:r>
              <a:rPr dirty="0" err="1"/>
              <a:t>une</a:t>
            </a:r>
            <a:r>
              <a:rPr dirty="0"/>
              <a:t> relation </a:t>
            </a:r>
            <a:r>
              <a:rPr dirty="0" err="1"/>
              <a:t>causale</a:t>
            </a:r>
            <a:r>
              <a:rPr dirty="0"/>
              <a:t>.</a:t>
            </a:r>
          </a:p>
          <a:p>
            <a:pPr>
              <a:spcAft>
                <a:spcPts val="900"/>
              </a:spcAft>
              <a:defRPr sz="1800">
                <a:solidFill>
                  <a:srgbClr val="1B2735"/>
                </a:solidFill>
                <a:latin typeface="Aptos"/>
              </a:defRPr>
            </a:pPr>
            <a:r>
              <a:rPr dirty="0"/>
              <a:t>•  Les </a:t>
            </a:r>
            <a:r>
              <a:rPr dirty="0" err="1"/>
              <a:t>graphiques</a:t>
            </a:r>
            <a:r>
              <a:rPr dirty="0"/>
              <a:t> </a:t>
            </a:r>
            <a:r>
              <a:rPr dirty="0" err="1"/>
              <a:t>doivent</a:t>
            </a:r>
            <a:r>
              <a:rPr dirty="0"/>
              <a:t> </a:t>
            </a:r>
            <a:r>
              <a:rPr dirty="0" err="1"/>
              <a:t>être</a:t>
            </a:r>
            <a:r>
              <a:rPr dirty="0"/>
              <a:t> </a:t>
            </a:r>
            <a:r>
              <a:rPr dirty="0" err="1"/>
              <a:t>accompagnés</a:t>
            </a:r>
            <a:r>
              <a:rPr dirty="0"/>
              <a:t> des </a:t>
            </a:r>
            <a:r>
              <a:rPr dirty="0" err="1"/>
              <a:t>effectifs</a:t>
            </a:r>
            <a:r>
              <a:rPr dirty="0"/>
              <a:t>, car les </a:t>
            </a:r>
            <a:r>
              <a:rPr dirty="0" err="1"/>
              <a:t>taux</a:t>
            </a:r>
            <a:r>
              <a:rPr dirty="0"/>
              <a:t> </a:t>
            </a:r>
            <a:r>
              <a:rPr dirty="0" err="1"/>
              <a:t>calculés</a:t>
            </a:r>
            <a:r>
              <a:rPr dirty="0"/>
              <a:t> sur peu de </a:t>
            </a:r>
            <a:r>
              <a:rPr dirty="0" err="1"/>
              <a:t>lancements</a:t>
            </a:r>
            <a:r>
              <a:rPr dirty="0"/>
              <a:t> </a:t>
            </a:r>
            <a:r>
              <a:rPr dirty="0" err="1"/>
              <a:t>sont</a:t>
            </a:r>
            <a:r>
              <a:rPr dirty="0"/>
              <a:t> </a:t>
            </a:r>
            <a:r>
              <a:rPr dirty="0" err="1"/>
              <a:t>instables</a:t>
            </a:r>
            <a:r>
              <a:rPr dirty="0"/>
              <a:t>.</a:t>
            </a:r>
          </a:p>
        </p:txBody>
      </p:sp>
      <p:sp>
        <p:nvSpPr>
          <p:cNvPr id="7" name="TextBox 6"/>
          <p:cNvSpPr txBox="1"/>
          <p:nvPr/>
        </p:nvSpPr>
        <p:spPr>
          <a:xfrm>
            <a:off x="502920" y="6510528"/>
            <a:ext cx="9144000" cy="164592"/>
          </a:xfrm>
          <a:prstGeom prst="rect">
            <a:avLst/>
          </a:prstGeom>
          <a:noFill/>
        </p:spPr>
        <p:txBody>
          <a:bodyPr wrap="square" lIns="36576" tIns="18288" rIns="36576" bIns="18288">
            <a:spAutoFit/>
          </a:bodyPr>
          <a:lstStyle/>
          <a:p>
            <a:pPr>
              <a:defRPr sz="800" b="0">
                <a:solidFill>
                  <a:srgbClr val="566577"/>
                </a:solidFill>
                <a:latin typeface="Aptos"/>
              </a:defRPr>
            </a:pPr>
            <a:r>
              <a:t>Projet SpaceX Falcon 9 • Analyse descriptive et tableau de bord interactif</a:t>
            </a:r>
          </a:p>
        </p:txBody>
      </p:sp>
      <p:sp>
        <p:nvSpPr>
          <p:cNvPr id="8" name="TextBox 7"/>
          <p:cNvSpPr txBox="1"/>
          <p:nvPr/>
        </p:nvSpPr>
        <p:spPr>
          <a:xfrm>
            <a:off x="10972800" y="6492240"/>
            <a:ext cx="640080" cy="182880"/>
          </a:xfrm>
          <a:prstGeom prst="rect">
            <a:avLst/>
          </a:prstGeom>
          <a:noFill/>
        </p:spPr>
        <p:txBody>
          <a:bodyPr wrap="square" lIns="36576" tIns="18288" rIns="36576" bIns="18288">
            <a:spAutoFit/>
          </a:bodyPr>
          <a:lstStyle/>
          <a:p>
            <a:pPr algn="r">
              <a:defRPr sz="900" b="0">
                <a:solidFill>
                  <a:srgbClr val="566577"/>
                </a:solidFill>
                <a:latin typeface="Aptos"/>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813B850-CAA9-0297-1CD8-387C077E2C4D}"/>
              </a:ext>
            </a:extLst>
          </p:cNvPr>
          <p:cNvSpPr txBox="1"/>
          <p:nvPr/>
        </p:nvSpPr>
        <p:spPr>
          <a:xfrm>
            <a:off x="385140" y="124744"/>
            <a:ext cx="9216059" cy="369332"/>
          </a:xfrm>
          <a:prstGeom prst="rect">
            <a:avLst/>
          </a:prstGeom>
          <a:noFill/>
        </p:spPr>
        <p:txBody>
          <a:bodyPr wrap="square">
            <a:spAutoFit/>
          </a:bodyPr>
          <a:lstStyle/>
          <a:p>
            <a:r>
              <a:rPr lang="fr-FR" b="1" dirty="0"/>
              <a:t>Tableau de bord des lancements SpaceX</a:t>
            </a:r>
          </a:p>
        </p:txBody>
      </p:sp>
      <p:pic>
        <p:nvPicPr>
          <p:cNvPr id="5" name="Image 4">
            <a:extLst>
              <a:ext uri="{FF2B5EF4-FFF2-40B4-BE49-F238E27FC236}">
                <a16:creationId xmlns:a16="http://schemas.microsoft.com/office/drawing/2014/main" id="{D8E8EE0E-F42C-F021-2E92-B91644A82D69}"/>
              </a:ext>
            </a:extLst>
          </p:cNvPr>
          <p:cNvPicPr>
            <a:picLocks noChangeAspect="1"/>
          </p:cNvPicPr>
          <p:nvPr/>
        </p:nvPicPr>
        <p:blipFill>
          <a:blip r:embed="rId2"/>
          <a:stretch>
            <a:fillRect/>
          </a:stretch>
        </p:blipFill>
        <p:spPr>
          <a:xfrm>
            <a:off x="0" y="536526"/>
            <a:ext cx="12192000" cy="5784947"/>
          </a:xfrm>
          <a:prstGeom prst="rect">
            <a:avLst/>
          </a:prstGeom>
        </p:spPr>
      </p:pic>
    </p:spTree>
    <p:extLst>
      <p:ext uri="{BB962C8B-B14F-4D97-AF65-F5344CB8AC3E}">
        <p14:creationId xmlns:p14="http://schemas.microsoft.com/office/powerpoint/2010/main" val="3656004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16AD1A0B-F929-2338-779B-BB0F06EED557}"/>
              </a:ext>
            </a:extLst>
          </p:cNvPr>
          <p:cNvSpPr txBox="1"/>
          <p:nvPr/>
        </p:nvSpPr>
        <p:spPr>
          <a:xfrm>
            <a:off x="-867190" y="103569"/>
            <a:ext cx="6097656" cy="369332"/>
          </a:xfrm>
          <a:prstGeom prst="rect">
            <a:avLst/>
          </a:prstGeom>
          <a:noFill/>
        </p:spPr>
        <p:txBody>
          <a:bodyPr wrap="square">
            <a:spAutoFit/>
          </a:bodyPr>
          <a:lstStyle/>
          <a:p>
            <a:pPr indent="0" algn="ctr">
              <a:buNone/>
            </a:pPr>
            <a:r>
              <a:rPr lang="fr-FR" b="1" i="0" dirty="0">
                <a:solidFill>
                  <a:schemeClr val="tx1"/>
                </a:solidFill>
                <a:effectLst/>
                <a:latin typeface="+mn-lt"/>
              </a:rPr>
              <a:t>Tableau de bord des lancements SpaceX</a:t>
            </a:r>
            <a:endParaRPr lang="fr-FR" b="1" i="0" dirty="0">
              <a:solidFill>
                <a:srgbClr val="000000"/>
              </a:solidFill>
              <a:effectLst/>
              <a:latin typeface="Times New Roman" panose="02020603050405020304" pitchFamily="18" charset="0"/>
            </a:endParaRPr>
          </a:p>
        </p:txBody>
      </p:sp>
      <p:pic>
        <p:nvPicPr>
          <p:cNvPr id="5" name="Image 4">
            <a:extLst>
              <a:ext uri="{FF2B5EF4-FFF2-40B4-BE49-F238E27FC236}">
                <a16:creationId xmlns:a16="http://schemas.microsoft.com/office/drawing/2014/main" id="{97629347-A43F-C7FA-BB89-4759024B7A85}"/>
              </a:ext>
            </a:extLst>
          </p:cNvPr>
          <p:cNvPicPr>
            <a:picLocks noChangeAspect="1"/>
          </p:cNvPicPr>
          <p:nvPr/>
        </p:nvPicPr>
        <p:blipFill>
          <a:blip r:embed="rId2"/>
          <a:stretch>
            <a:fillRect/>
          </a:stretch>
        </p:blipFill>
        <p:spPr>
          <a:xfrm>
            <a:off x="0" y="1296522"/>
            <a:ext cx="12192000" cy="4264955"/>
          </a:xfrm>
          <a:prstGeom prst="rect">
            <a:avLst/>
          </a:prstGeom>
        </p:spPr>
      </p:pic>
    </p:spTree>
    <p:extLst>
      <p:ext uri="{BB962C8B-B14F-4D97-AF65-F5344CB8AC3E}">
        <p14:creationId xmlns:p14="http://schemas.microsoft.com/office/powerpoint/2010/main" val="483492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2076B4E8-AE4E-9C5D-93CB-29AF3A2BA3C6}"/>
              </a:ext>
            </a:extLst>
          </p:cNvPr>
          <p:cNvSpPr txBox="1"/>
          <p:nvPr/>
        </p:nvSpPr>
        <p:spPr>
          <a:xfrm>
            <a:off x="593862" y="218661"/>
            <a:ext cx="8232085" cy="369332"/>
          </a:xfrm>
          <a:prstGeom prst="rect">
            <a:avLst/>
          </a:prstGeom>
          <a:noFill/>
        </p:spPr>
        <p:txBody>
          <a:bodyPr wrap="square">
            <a:spAutoFit/>
          </a:bodyPr>
          <a:lstStyle/>
          <a:p>
            <a:pPr indent="0" algn="ctr">
              <a:buNone/>
            </a:pPr>
            <a:r>
              <a:rPr lang="fr-FR" b="1" i="0" dirty="0">
                <a:solidFill>
                  <a:schemeClr val="tx1"/>
                </a:solidFill>
                <a:effectLst/>
                <a:latin typeface="+mn-lt"/>
              </a:rPr>
              <a:t>Tableau de bord des lancements SpaceX du site CCAFS SLC_40</a:t>
            </a:r>
            <a:endParaRPr lang="fr-FR" b="1" i="0" dirty="0">
              <a:solidFill>
                <a:srgbClr val="000000"/>
              </a:solidFill>
              <a:effectLst/>
              <a:latin typeface="Times New Roman" panose="02020603050405020304" pitchFamily="18" charset="0"/>
            </a:endParaRPr>
          </a:p>
        </p:txBody>
      </p:sp>
      <p:pic>
        <p:nvPicPr>
          <p:cNvPr id="5" name="Image 4">
            <a:extLst>
              <a:ext uri="{FF2B5EF4-FFF2-40B4-BE49-F238E27FC236}">
                <a16:creationId xmlns:a16="http://schemas.microsoft.com/office/drawing/2014/main" id="{03957517-F0DD-AB63-EC02-DEB1D87C2EA6}"/>
              </a:ext>
            </a:extLst>
          </p:cNvPr>
          <p:cNvPicPr>
            <a:picLocks noChangeAspect="1"/>
          </p:cNvPicPr>
          <p:nvPr/>
        </p:nvPicPr>
        <p:blipFill>
          <a:blip r:embed="rId2"/>
          <a:stretch>
            <a:fillRect/>
          </a:stretch>
        </p:blipFill>
        <p:spPr>
          <a:xfrm>
            <a:off x="0" y="655158"/>
            <a:ext cx="12192000" cy="5547683"/>
          </a:xfrm>
          <a:prstGeom prst="rect">
            <a:avLst/>
          </a:prstGeom>
        </p:spPr>
      </p:pic>
    </p:spTree>
    <p:extLst>
      <p:ext uri="{BB962C8B-B14F-4D97-AF65-F5344CB8AC3E}">
        <p14:creationId xmlns:p14="http://schemas.microsoft.com/office/powerpoint/2010/main" val="3298926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70F0A82F-0ED9-AB7F-64F2-AA9B36BC0FE4}"/>
              </a:ext>
            </a:extLst>
          </p:cNvPr>
          <p:cNvSpPr txBox="1"/>
          <p:nvPr/>
        </p:nvSpPr>
        <p:spPr>
          <a:xfrm>
            <a:off x="2054915" y="143325"/>
            <a:ext cx="6097656" cy="369332"/>
          </a:xfrm>
          <a:prstGeom prst="rect">
            <a:avLst/>
          </a:prstGeom>
          <a:noFill/>
        </p:spPr>
        <p:txBody>
          <a:bodyPr wrap="square">
            <a:spAutoFit/>
          </a:bodyPr>
          <a:lstStyle/>
          <a:p>
            <a:pPr indent="0" algn="ctr">
              <a:buNone/>
            </a:pPr>
            <a:r>
              <a:rPr lang="fr-FR" b="1" dirty="0"/>
              <a:t>Tableau de bord des lancements SpaceX du site CCAFS SLC_40</a:t>
            </a:r>
            <a:endParaRPr lang="fr-FR" b="1" dirty="0">
              <a:solidFill>
                <a:srgbClr val="000000"/>
              </a:solidFill>
              <a:latin typeface="Times New Roman" panose="02020603050405020304" pitchFamily="18" charset="0"/>
            </a:endParaRPr>
          </a:p>
        </p:txBody>
      </p:sp>
      <p:pic>
        <p:nvPicPr>
          <p:cNvPr id="5" name="Image 4">
            <a:extLst>
              <a:ext uri="{FF2B5EF4-FFF2-40B4-BE49-F238E27FC236}">
                <a16:creationId xmlns:a16="http://schemas.microsoft.com/office/drawing/2014/main" id="{79330059-DE5C-3B0B-C9E2-3EB45F301AB0}"/>
              </a:ext>
            </a:extLst>
          </p:cNvPr>
          <p:cNvPicPr>
            <a:picLocks noChangeAspect="1"/>
          </p:cNvPicPr>
          <p:nvPr/>
        </p:nvPicPr>
        <p:blipFill>
          <a:blip r:embed="rId2"/>
          <a:stretch>
            <a:fillRect/>
          </a:stretch>
        </p:blipFill>
        <p:spPr>
          <a:xfrm>
            <a:off x="0" y="1272745"/>
            <a:ext cx="12192000" cy="4312510"/>
          </a:xfrm>
          <a:prstGeom prst="rect">
            <a:avLst/>
          </a:prstGeom>
        </p:spPr>
      </p:pic>
    </p:spTree>
    <p:extLst>
      <p:ext uri="{BB962C8B-B14F-4D97-AF65-F5344CB8AC3E}">
        <p14:creationId xmlns:p14="http://schemas.microsoft.com/office/powerpoint/2010/main" val="3131444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lIns="36576" tIns="18288" rIns="36576" bIns="18288">
            <a:spAutoFit/>
          </a:bodyPr>
          <a:lstStyle/>
          <a:p>
            <a:pPr>
              <a:defRPr sz="900" b="1">
                <a:solidFill>
                  <a:srgbClr val="1A5DAB"/>
                </a:solidFill>
                <a:latin typeface="Aptos"/>
              </a:defRPr>
            </a:pPr>
            <a:r>
              <a:t>APPLIED DATA SCIENCE CAPSTONE • SPACEX FALCON 9</a:t>
            </a:r>
          </a:p>
        </p:txBody>
      </p:sp>
      <p:sp>
        <p:nvSpPr>
          <p:cNvPr id="4" name="TextBox 3"/>
          <p:cNvSpPr txBox="1"/>
          <p:nvPr/>
        </p:nvSpPr>
        <p:spPr>
          <a:xfrm>
            <a:off x="502920" y="566928"/>
            <a:ext cx="11155680" cy="530352"/>
          </a:xfrm>
          <a:prstGeom prst="rect">
            <a:avLst/>
          </a:prstGeom>
          <a:noFill/>
        </p:spPr>
        <p:txBody>
          <a:bodyPr wrap="square" lIns="36576" tIns="18288" rIns="36576" bIns="18288">
            <a:spAutoFit/>
          </a:bodyPr>
          <a:lstStyle/>
          <a:p>
            <a:pPr>
              <a:defRPr sz="2700" b="1">
                <a:solidFill>
                  <a:srgbClr val="0B1930"/>
                </a:solidFill>
                <a:latin typeface="Aptos"/>
              </a:defRPr>
            </a:pPr>
            <a:r>
              <a:t>Autres composantes du parcours Capstone</a:t>
            </a:r>
          </a:p>
        </p:txBody>
      </p:sp>
      <p:sp>
        <p:nvSpPr>
          <p:cNvPr id="5" name="Rectangle 4"/>
          <p:cNvSpPr/>
          <p:nvPr/>
        </p:nvSpPr>
        <p:spPr>
          <a:xfrm>
            <a:off x="502920" y="1170432"/>
            <a:ext cx="11155680" cy="32004"/>
          </a:xfrm>
          <a:prstGeom prst="rect">
            <a:avLst/>
          </a:prstGeom>
          <a:solidFill>
            <a:srgbClr val="00B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08760"/>
            <a:ext cx="10789920" cy="4480560"/>
          </a:xfrm>
          <a:prstGeom prst="rect">
            <a:avLst/>
          </a:prstGeom>
          <a:noFill/>
        </p:spPr>
        <p:txBody>
          <a:bodyPr wrap="square" lIns="73152" rIns="54864">
            <a:spAutoFit/>
          </a:bodyPr>
          <a:lstStyle/>
          <a:p>
            <a:pPr>
              <a:spcAft>
                <a:spcPts val="900"/>
              </a:spcAft>
              <a:defRPr sz="1800">
                <a:solidFill>
                  <a:srgbClr val="1B2735"/>
                </a:solidFill>
                <a:latin typeface="Aptos"/>
              </a:defRPr>
            </a:pPr>
            <a:r>
              <a:rPr lang="fr-FR" dirty="0"/>
              <a:t>•  SQL : le laboratoire propose des requêtes sur les sites, les charges utiles, les résultats d’atterrissage et les périodes de lancement.</a:t>
            </a:r>
          </a:p>
          <a:p>
            <a:pPr>
              <a:spcAft>
                <a:spcPts val="900"/>
              </a:spcAft>
              <a:defRPr sz="1800">
                <a:solidFill>
                  <a:srgbClr val="1B2735"/>
                </a:solidFill>
                <a:latin typeface="Aptos"/>
              </a:defRPr>
            </a:pPr>
            <a:r>
              <a:rPr lang="fr-FR" dirty="0"/>
              <a:t>•  </a:t>
            </a:r>
            <a:r>
              <a:rPr lang="fr-FR" dirty="0" err="1"/>
              <a:t>Folium</a:t>
            </a:r>
            <a:r>
              <a:rPr lang="fr-FR" dirty="0"/>
              <a:t> : la cartographie permet de localiser les sites et de représenter les résultats par marqueurs ; les distances de proximité nécessitent des coordonnées et des calculs validés.</a:t>
            </a:r>
          </a:p>
          <a:p>
            <a:pPr>
              <a:spcAft>
                <a:spcPts val="900"/>
              </a:spcAft>
              <a:defRPr sz="1800">
                <a:solidFill>
                  <a:srgbClr val="1B2735"/>
                </a:solidFill>
                <a:latin typeface="Aptos"/>
              </a:defRPr>
            </a:pPr>
            <a:r>
              <a:rPr lang="fr-FR" dirty="0"/>
              <a:t>•  Analyse exploratoire : les graphiques attendus examinent notamment les relations entre numéro de vol, site, orbite, charge utile et taux annuel de succès.</a:t>
            </a:r>
          </a:p>
          <a:p>
            <a:pPr>
              <a:spcAft>
                <a:spcPts val="900"/>
              </a:spcAft>
              <a:defRPr sz="1800">
                <a:solidFill>
                  <a:srgbClr val="1B2735"/>
                </a:solidFill>
                <a:latin typeface="Aptos"/>
              </a:defRPr>
            </a:pPr>
            <a:r>
              <a:rPr lang="fr-FR" dirty="0"/>
              <a:t>•  Les résultats chiffrés SQL, les cartes finales et les graphiques EDA non présents dans les sorties partagées ne sont pas reproduits ici comme s’ils avaient été vérifiés.</a:t>
            </a:r>
          </a:p>
        </p:txBody>
      </p:sp>
      <p:sp>
        <p:nvSpPr>
          <p:cNvPr id="7" name="TextBox 6"/>
          <p:cNvSpPr txBox="1"/>
          <p:nvPr/>
        </p:nvSpPr>
        <p:spPr>
          <a:xfrm>
            <a:off x="502920" y="6510528"/>
            <a:ext cx="9144000" cy="164592"/>
          </a:xfrm>
          <a:prstGeom prst="rect">
            <a:avLst/>
          </a:prstGeom>
          <a:noFill/>
        </p:spPr>
        <p:txBody>
          <a:bodyPr wrap="square" lIns="36576" tIns="18288" rIns="36576" bIns="18288">
            <a:spAutoFit/>
          </a:bodyPr>
          <a:lstStyle/>
          <a:p>
            <a:pPr>
              <a:defRPr sz="800" b="0">
                <a:solidFill>
                  <a:srgbClr val="566577"/>
                </a:solidFill>
                <a:latin typeface="Aptos"/>
              </a:defRPr>
            </a:pPr>
            <a:r>
              <a:t>Projet SpaceX Falcon 9 • Analyse descriptive et tableau de bord interactif</a:t>
            </a:r>
          </a:p>
        </p:txBody>
      </p:sp>
      <p:sp>
        <p:nvSpPr>
          <p:cNvPr id="8" name="TextBox 7"/>
          <p:cNvSpPr txBox="1"/>
          <p:nvPr/>
        </p:nvSpPr>
        <p:spPr>
          <a:xfrm>
            <a:off x="10972800" y="6492240"/>
            <a:ext cx="640080" cy="182880"/>
          </a:xfrm>
          <a:prstGeom prst="rect">
            <a:avLst/>
          </a:prstGeom>
          <a:noFill/>
        </p:spPr>
        <p:txBody>
          <a:bodyPr wrap="square" lIns="36576" tIns="18288" rIns="36576" bIns="18288">
            <a:spAutoFit/>
          </a:bodyPr>
          <a:lstStyle/>
          <a:p>
            <a:pPr algn="r">
              <a:defRPr sz="900" b="0">
                <a:solidFill>
                  <a:srgbClr val="566577"/>
                </a:solidFill>
                <a:latin typeface="Aptos"/>
              </a:defRPr>
            </a:pPr>
            <a:r>
              <a:t>11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E5E3C3E-1BFD-961D-E9C9-1AEDB8645E47}"/>
              </a:ext>
            </a:extLst>
          </p:cNvPr>
          <p:cNvSpPr txBox="1"/>
          <p:nvPr/>
        </p:nvSpPr>
        <p:spPr>
          <a:xfrm>
            <a:off x="434094" y="301752"/>
            <a:ext cx="11155680" cy="452432"/>
          </a:xfrm>
          <a:prstGeom prst="rect">
            <a:avLst/>
          </a:prstGeom>
          <a:noFill/>
        </p:spPr>
        <p:txBody>
          <a:bodyPr wrap="square" lIns="36576" tIns="18288" rIns="36576" bIns="18288">
            <a:spAutoFit/>
          </a:bodyPr>
          <a:lstStyle/>
          <a:p>
            <a:pPr>
              <a:defRPr sz="2700" b="1">
                <a:solidFill>
                  <a:srgbClr val="0B1930"/>
                </a:solidFill>
                <a:latin typeface="Aptos"/>
              </a:defRPr>
            </a:pPr>
            <a:r>
              <a:rPr lang="fr-FR" sz="2700" b="1" dirty="0">
                <a:solidFill>
                  <a:srgbClr val="0B1930"/>
                </a:solidFill>
                <a:latin typeface="Aptos"/>
              </a:rPr>
              <a:t>Analyse géographique des sites de lancement avec </a:t>
            </a:r>
            <a:r>
              <a:rPr lang="fr-FR" sz="2700" b="1" dirty="0" err="1">
                <a:solidFill>
                  <a:srgbClr val="0B1930"/>
                </a:solidFill>
                <a:latin typeface="Aptos"/>
              </a:rPr>
              <a:t>Folium</a:t>
            </a:r>
            <a:r>
              <a:rPr lang="fr-FR" sz="2700" b="1" dirty="0">
                <a:solidFill>
                  <a:srgbClr val="0B1930"/>
                </a:solidFill>
                <a:latin typeface="Aptos"/>
              </a:rPr>
              <a:t> (1)</a:t>
            </a:r>
          </a:p>
        </p:txBody>
      </p:sp>
      <p:pic>
        <p:nvPicPr>
          <p:cNvPr id="10" name="Image 9">
            <a:extLst>
              <a:ext uri="{FF2B5EF4-FFF2-40B4-BE49-F238E27FC236}">
                <a16:creationId xmlns:a16="http://schemas.microsoft.com/office/drawing/2014/main" id="{13E39A8C-799A-83CC-1B79-DB22BE03390D}"/>
              </a:ext>
            </a:extLst>
          </p:cNvPr>
          <p:cNvPicPr>
            <a:picLocks noChangeAspect="1"/>
          </p:cNvPicPr>
          <p:nvPr/>
        </p:nvPicPr>
        <p:blipFill>
          <a:blip r:embed="rId2"/>
          <a:stretch>
            <a:fillRect/>
          </a:stretch>
        </p:blipFill>
        <p:spPr>
          <a:xfrm>
            <a:off x="318051" y="1351722"/>
            <a:ext cx="11519453" cy="4564053"/>
          </a:xfrm>
          <a:prstGeom prst="rect">
            <a:avLst/>
          </a:prstGeom>
        </p:spPr>
      </p:pic>
      <p:sp>
        <p:nvSpPr>
          <p:cNvPr id="12" name="ZoneTexte 11">
            <a:extLst>
              <a:ext uri="{FF2B5EF4-FFF2-40B4-BE49-F238E27FC236}">
                <a16:creationId xmlns:a16="http://schemas.microsoft.com/office/drawing/2014/main" id="{A2665865-BB0A-9969-B437-A1889C950BF1}"/>
              </a:ext>
            </a:extLst>
          </p:cNvPr>
          <p:cNvSpPr txBox="1"/>
          <p:nvPr/>
        </p:nvSpPr>
        <p:spPr>
          <a:xfrm>
            <a:off x="1358349" y="6069640"/>
            <a:ext cx="9922564" cy="369332"/>
          </a:xfrm>
          <a:prstGeom prst="rect">
            <a:avLst/>
          </a:prstGeom>
          <a:noFill/>
        </p:spPr>
        <p:txBody>
          <a:bodyPr wrap="square">
            <a:spAutoFit/>
          </a:bodyPr>
          <a:lstStyle/>
          <a:p>
            <a:r>
              <a:rPr lang="fr-FR" dirty="0"/>
              <a:t>LOCALISATION  DES SITES DE LANCEMENT </a:t>
            </a:r>
          </a:p>
        </p:txBody>
      </p:sp>
    </p:spTree>
    <p:extLst>
      <p:ext uri="{BB962C8B-B14F-4D97-AF65-F5344CB8AC3E}">
        <p14:creationId xmlns:p14="http://schemas.microsoft.com/office/powerpoint/2010/main" val="1934100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53059590-5D9E-7151-D03B-DB72FF822B1A}"/>
              </a:ext>
            </a:extLst>
          </p:cNvPr>
          <p:cNvSpPr txBox="1"/>
          <p:nvPr/>
        </p:nvSpPr>
        <p:spPr>
          <a:xfrm>
            <a:off x="892035" y="214196"/>
            <a:ext cx="10160278" cy="507831"/>
          </a:xfrm>
          <a:prstGeom prst="rect">
            <a:avLst/>
          </a:prstGeom>
          <a:noFill/>
        </p:spPr>
        <p:txBody>
          <a:bodyPr wrap="square">
            <a:spAutoFit/>
          </a:bodyPr>
          <a:lstStyle/>
          <a:p>
            <a:pPr>
              <a:defRPr sz="2700" b="1">
                <a:solidFill>
                  <a:srgbClr val="0B1930"/>
                </a:solidFill>
                <a:latin typeface="Aptos"/>
              </a:defRPr>
            </a:pPr>
            <a:r>
              <a:rPr lang="fr-FR" sz="2700" b="1" dirty="0">
                <a:solidFill>
                  <a:srgbClr val="0B1930"/>
                </a:solidFill>
                <a:latin typeface="Aptos"/>
              </a:rPr>
              <a:t>Analyse géographique des sites de lancement avec </a:t>
            </a:r>
            <a:r>
              <a:rPr lang="fr-FR" sz="2700" b="1" dirty="0" err="1">
                <a:solidFill>
                  <a:srgbClr val="0B1930"/>
                </a:solidFill>
                <a:latin typeface="Aptos"/>
              </a:rPr>
              <a:t>Folium</a:t>
            </a:r>
            <a:r>
              <a:rPr lang="fr-FR" sz="2700" b="1" dirty="0">
                <a:solidFill>
                  <a:srgbClr val="0B1930"/>
                </a:solidFill>
                <a:latin typeface="Aptos"/>
              </a:rPr>
              <a:t> (2)</a:t>
            </a:r>
            <a:endParaRPr lang="fr-FR" sz="2700" dirty="0"/>
          </a:p>
        </p:txBody>
      </p:sp>
      <p:pic>
        <p:nvPicPr>
          <p:cNvPr id="7" name="Image 6">
            <a:extLst>
              <a:ext uri="{FF2B5EF4-FFF2-40B4-BE49-F238E27FC236}">
                <a16:creationId xmlns:a16="http://schemas.microsoft.com/office/drawing/2014/main" id="{A0BFE74A-60B3-7B4D-8AC0-BDE9F080716E}"/>
              </a:ext>
            </a:extLst>
          </p:cNvPr>
          <p:cNvPicPr>
            <a:picLocks noChangeAspect="1"/>
          </p:cNvPicPr>
          <p:nvPr/>
        </p:nvPicPr>
        <p:blipFill>
          <a:blip r:embed="rId2"/>
          <a:stretch>
            <a:fillRect/>
          </a:stretch>
        </p:blipFill>
        <p:spPr>
          <a:xfrm>
            <a:off x="1083600" y="1238966"/>
            <a:ext cx="9845893" cy="4380068"/>
          </a:xfrm>
          <a:prstGeom prst="rect">
            <a:avLst/>
          </a:prstGeom>
        </p:spPr>
      </p:pic>
      <p:sp>
        <p:nvSpPr>
          <p:cNvPr id="9" name="ZoneTexte 8">
            <a:extLst>
              <a:ext uri="{FF2B5EF4-FFF2-40B4-BE49-F238E27FC236}">
                <a16:creationId xmlns:a16="http://schemas.microsoft.com/office/drawing/2014/main" id="{75C45261-6E83-56B3-DA0B-68685DB5A0DD}"/>
              </a:ext>
            </a:extLst>
          </p:cNvPr>
          <p:cNvSpPr txBox="1"/>
          <p:nvPr/>
        </p:nvSpPr>
        <p:spPr>
          <a:xfrm>
            <a:off x="1083600" y="5662393"/>
            <a:ext cx="10684566" cy="369332"/>
          </a:xfrm>
          <a:prstGeom prst="rect">
            <a:avLst/>
          </a:prstGeom>
          <a:noFill/>
        </p:spPr>
        <p:txBody>
          <a:bodyPr wrap="square">
            <a:spAutoFit/>
          </a:bodyPr>
          <a:lstStyle/>
          <a:p>
            <a:r>
              <a:rPr lang="fr-FR" dirty="0"/>
              <a:t>RÉSULTATS  DES LANCEMENTS</a:t>
            </a:r>
          </a:p>
        </p:txBody>
      </p:sp>
    </p:spTree>
    <p:extLst>
      <p:ext uri="{BB962C8B-B14F-4D97-AF65-F5344CB8AC3E}">
        <p14:creationId xmlns:p14="http://schemas.microsoft.com/office/powerpoint/2010/main" val="1529237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CBB3992E-2A3C-5EED-1E7F-F0054E8BB9BF}"/>
              </a:ext>
            </a:extLst>
          </p:cNvPr>
          <p:cNvPicPr>
            <a:picLocks noChangeAspect="1"/>
          </p:cNvPicPr>
          <p:nvPr/>
        </p:nvPicPr>
        <p:blipFill>
          <a:blip r:embed="rId2"/>
          <a:stretch>
            <a:fillRect/>
          </a:stretch>
        </p:blipFill>
        <p:spPr>
          <a:xfrm>
            <a:off x="842743" y="1224097"/>
            <a:ext cx="9830652" cy="4884843"/>
          </a:xfrm>
          <a:prstGeom prst="rect">
            <a:avLst/>
          </a:prstGeom>
        </p:spPr>
      </p:pic>
      <p:sp>
        <p:nvSpPr>
          <p:cNvPr id="5" name="ZoneTexte 4">
            <a:extLst>
              <a:ext uri="{FF2B5EF4-FFF2-40B4-BE49-F238E27FC236}">
                <a16:creationId xmlns:a16="http://schemas.microsoft.com/office/drawing/2014/main" id="{22E7620A-2B44-D4F8-37C4-AA99DEA99EC4}"/>
              </a:ext>
            </a:extLst>
          </p:cNvPr>
          <p:cNvSpPr txBox="1"/>
          <p:nvPr/>
        </p:nvSpPr>
        <p:spPr>
          <a:xfrm>
            <a:off x="924339" y="6108940"/>
            <a:ext cx="11688417" cy="369332"/>
          </a:xfrm>
          <a:prstGeom prst="rect">
            <a:avLst/>
          </a:prstGeom>
          <a:noFill/>
        </p:spPr>
        <p:txBody>
          <a:bodyPr wrap="square">
            <a:spAutoFit/>
          </a:bodyPr>
          <a:lstStyle/>
          <a:p>
            <a:r>
              <a:rPr lang="fr-FR" dirty="0"/>
              <a:t>DISTANCES GÉOGRAPHIQUE DES LANCEMENTS</a:t>
            </a:r>
          </a:p>
        </p:txBody>
      </p:sp>
      <p:sp>
        <p:nvSpPr>
          <p:cNvPr id="7" name="ZoneTexte 6">
            <a:extLst>
              <a:ext uri="{FF2B5EF4-FFF2-40B4-BE49-F238E27FC236}">
                <a16:creationId xmlns:a16="http://schemas.microsoft.com/office/drawing/2014/main" id="{B6BDC480-DF8A-C0EA-1525-FE3C85035DF5}"/>
              </a:ext>
            </a:extLst>
          </p:cNvPr>
          <p:cNvSpPr txBox="1"/>
          <p:nvPr/>
        </p:nvSpPr>
        <p:spPr>
          <a:xfrm>
            <a:off x="842742" y="94926"/>
            <a:ext cx="9742431" cy="507831"/>
          </a:xfrm>
          <a:prstGeom prst="rect">
            <a:avLst/>
          </a:prstGeom>
          <a:noFill/>
        </p:spPr>
        <p:txBody>
          <a:bodyPr wrap="square">
            <a:spAutoFit/>
          </a:bodyPr>
          <a:lstStyle/>
          <a:p>
            <a:pPr>
              <a:defRPr sz="2700" b="1">
                <a:solidFill>
                  <a:srgbClr val="0B1930"/>
                </a:solidFill>
                <a:latin typeface="Aptos"/>
              </a:defRPr>
            </a:pPr>
            <a:r>
              <a:rPr lang="fr-FR" sz="2700" b="1" dirty="0">
                <a:solidFill>
                  <a:srgbClr val="0B1930"/>
                </a:solidFill>
                <a:latin typeface="Aptos"/>
              </a:rPr>
              <a:t>Analyse géographique des sites de lancement avec </a:t>
            </a:r>
            <a:r>
              <a:rPr lang="fr-FR" sz="2700" b="1" dirty="0" err="1">
                <a:solidFill>
                  <a:srgbClr val="0B1930"/>
                </a:solidFill>
                <a:latin typeface="Aptos"/>
              </a:rPr>
              <a:t>Folium</a:t>
            </a:r>
            <a:r>
              <a:rPr lang="fr-FR" sz="2700" b="1" dirty="0">
                <a:solidFill>
                  <a:srgbClr val="0B1930"/>
                </a:solidFill>
                <a:latin typeface="Aptos"/>
              </a:rPr>
              <a:t> (3)</a:t>
            </a:r>
          </a:p>
        </p:txBody>
      </p:sp>
    </p:spTree>
    <p:extLst>
      <p:ext uri="{BB962C8B-B14F-4D97-AF65-F5344CB8AC3E}">
        <p14:creationId xmlns:p14="http://schemas.microsoft.com/office/powerpoint/2010/main" val="897756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7E1D2031-52DA-46F2-7881-06879E4DF4BA}"/>
              </a:ext>
            </a:extLst>
          </p:cNvPr>
          <p:cNvSpPr txBox="1"/>
          <p:nvPr/>
        </p:nvSpPr>
        <p:spPr>
          <a:xfrm>
            <a:off x="198783" y="1409217"/>
            <a:ext cx="11350487" cy="1569660"/>
          </a:xfrm>
          <a:prstGeom prst="rect">
            <a:avLst/>
          </a:prstGeom>
          <a:noFill/>
        </p:spPr>
        <p:txBody>
          <a:bodyPr wrap="square">
            <a:spAutoFit/>
          </a:bodyPr>
          <a:lstStyle/>
          <a:p>
            <a:pPr>
              <a:spcAft>
                <a:spcPts val="900"/>
              </a:spcAft>
              <a:defRPr sz="1800">
                <a:solidFill>
                  <a:srgbClr val="1B2735"/>
                </a:solidFill>
                <a:latin typeface="Aptos"/>
              </a:defRPr>
            </a:pPr>
            <a:r>
              <a:rPr lang="fr-FR" sz="2400" dirty="0">
                <a:solidFill>
                  <a:srgbClr val="1B2735"/>
                </a:solidFill>
                <a:latin typeface="Aptos"/>
              </a:rPr>
              <a:t>La cartographie interactive permet de localiser les quatre sites de lancement et d'explorer la répartition des succès et des échecs. L'analyse des distances aux éléments géographiques voisins complète les résultats obtenus par SQL et les visualisations statistiques.</a:t>
            </a:r>
            <a:endParaRPr lang="fr-FR" sz="2400" dirty="0"/>
          </a:p>
        </p:txBody>
      </p:sp>
    </p:spTree>
    <p:extLst>
      <p:ext uri="{BB962C8B-B14F-4D97-AF65-F5344CB8AC3E}">
        <p14:creationId xmlns:p14="http://schemas.microsoft.com/office/powerpoint/2010/main" val="7923091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lIns="36576" tIns="18288" rIns="36576" bIns="18288">
            <a:spAutoFit/>
          </a:bodyPr>
          <a:lstStyle/>
          <a:p>
            <a:pPr>
              <a:defRPr sz="900" b="1">
                <a:solidFill>
                  <a:srgbClr val="1A5DAB"/>
                </a:solidFill>
                <a:latin typeface="Aptos"/>
              </a:defRPr>
            </a:pPr>
            <a:r>
              <a:t>APPLIED DATA SCIENCE CAPSTONE • SPACEX FALCON 9</a:t>
            </a:r>
          </a:p>
        </p:txBody>
      </p:sp>
      <p:sp>
        <p:nvSpPr>
          <p:cNvPr id="4" name="TextBox 3"/>
          <p:cNvSpPr txBox="1"/>
          <p:nvPr/>
        </p:nvSpPr>
        <p:spPr>
          <a:xfrm>
            <a:off x="502920" y="566928"/>
            <a:ext cx="11155680" cy="530352"/>
          </a:xfrm>
          <a:prstGeom prst="rect">
            <a:avLst/>
          </a:prstGeom>
          <a:noFill/>
        </p:spPr>
        <p:txBody>
          <a:bodyPr wrap="square" lIns="36576" tIns="18288" rIns="36576" bIns="18288">
            <a:spAutoFit/>
          </a:bodyPr>
          <a:lstStyle/>
          <a:p>
            <a:pPr>
              <a:defRPr sz="2700" b="1">
                <a:solidFill>
                  <a:srgbClr val="0B1930"/>
                </a:solidFill>
                <a:latin typeface="Aptos"/>
              </a:defRPr>
            </a:pPr>
            <a:r>
              <a:t>Analyse prédictive — classification</a:t>
            </a:r>
          </a:p>
        </p:txBody>
      </p:sp>
      <p:sp>
        <p:nvSpPr>
          <p:cNvPr id="5" name="Rectangle 4"/>
          <p:cNvSpPr/>
          <p:nvPr/>
        </p:nvSpPr>
        <p:spPr>
          <a:xfrm>
            <a:off x="502920" y="1170432"/>
            <a:ext cx="11155680" cy="32004"/>
          </a:xfrm>
          <a:prstGeom prst="rect">
            <a:avLst/>
          </a:prstGeom>
          <a:solidFill>
            <a:srgbClr val="00B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08760"/>
            <a:ext cx="10789920" cy="4480560"/>
          </a:xfrm>
          <a:prstGeom prst="rect">
            <a:avLst/>
          </a:prstGeom>
          <a:noFill/>
        </p:spPr>
        <p:txBody>
          <a:bodyPr wrap="square" lIns="73152" rIns="54864">
            <a:spAutoFit/>
          </a:bodyPr>
          <a:lstStyle/>
          <a:p>
            <a:pPr>
              <a:spcAft>
                <a:spcPts val="900"/>
              </a:spcAft>
              <a:defRPr sz="1800">
                <a:solidFill>
                  <a:srgbClr val="1B2735"/>
                </a:solidFill>
                <a:latin typeface="Aptos"/>
              </a:defRPr>
            </a:pPr>
            <a:r>
              <a:t>•  Cible : variable binaire de résultat, selon la définition retenue dans le notebook de modélisation.</a:t>
            </a:r>
          </a:p>
          <a:p>
            <a:pPr>
              <a:spcAft>
                <a:spcPts val="900"/>
              </a:spcAft>
              <a:defRPr sz="1800">
                <a:solidFill>
                  <a:srgbClr val="1B2735"/>
                </a:solidFill>
                <a:latin typeface="Aptos"/>
              </a:defRPr>
            </a:pPr>
            <a:r>
              <a:t>•  Prétraitement attendu : traitement des valeurs manquantes, encodage des variables catégorielles et séparation entraînement/test.</a:t>
            </a:r>
          </a:p>
          <a:p>
            <a:pPr>
              <a:spcAft>
                <a:spcPts val="900"/>
              </a:spcAft>
              <a:defRPr sz="1800">
                <a:solidFill>
                  <a:srgbClr val="1B2735"/>
                </a:solidFill>
                <a:latin typeface="Aptos"/>
              </a:defRPr>
            </a:pPr>
            <a:r>
              <a:t>•  Modèles à comparer selon le laboratoire : classificateurs supervisés et sélection à partir de métriques adaptées.</a:t>
            </a:r>
          </a:p>
          <a:p>
            <a:pPr>
              <a:spcAft>
                <a:spcPts val="900"/>
              </a:spcAft>
              <a:defRPr sz="1800">
                <a:solidFill>
                  <a:srgbClr val="1B2735"/>
                </a:solidFill>
                <a:latin typeface="Aptos"/>
              </a:defRPr>
            </a:pPr>
            <a:r>
              <a:t>•  Évaluation à documenter : exactitude (accuracy), précision, rappel, F1-score et matrice de confusion.</a:t>
            </a:r>
          </a:p>
          <a:p>
            <a:pPr>
              <a:spcAft>
                <a:spcPts val="900"/>
              </a:spcAft>
              <a:defRPr sz="1800">
                <a:solidFill>
                  <a:srgbClr val="1B2735"/>
                </a:solidFill>
                <a:latin typeface="Aptos"/>
              </a:defRPr>
            </a:pPr>
            <a:r>
              <a:t>•  Les scores numériques et le modèle final ne sont pas inclus car aucune sortie de classification vérifiée n’a été fournie dans les éléments disponibles ; aucun score n’est inventé.</a:t>
            </a:r>
          </a:p>
        </p:txBody>
      </p:sp>
      <p:sp>
        <p:nvSpPr>
          <p:cNvPr id="7" name="TextBox 6"/>
          <p:cNvSpPr txBox="1"/>
          <p:nvPr/>
        </p:nvSpPr>
        <p:spPr>
          <a:xfrm>
            <a:off x="502920" y="6510528"/>
            <a:ext cx="9144000" cy="164592"/>
          </a:xfrm>
          <a:prstGeom prst="rect">
            <a:avLst/>
          </a:prstGeom>
          <a:noFill/>
        </p:spPr>
        <p:txBody>
          <a:bodyPr wrap="square" lIns="36576" tIns="18288" rIns="36576" bIns="18288">
            <a:spAutoFit/>
          </a:bodyPr>
          <a:lstStyle/>
          <a:p>
            <a:pPr>
              <a:defRPr sz="800" b="0">
                <a:solidFill>
                  <a:srgbClr val="566577"/>
                </a:solidFill>
                <a:latin typeface="Aptos"/>
              </a:defRPr>
            </a:pPr>
            <a:r>
              <a:t>Projet SpaceX Falcon 9 • Analyse descriptive et tableau de bord interactif</a:t>
            </a:r>
          </a:p>
        </p:txBody>
      </p:sp>
      <p:sp>
        <p:nvSpPr>
          <p:cNvPr id="8" name="TextBox 7"/>
          <p:cNvSpPr txBox="1"/>
          <p:nvPr/>
        </p:nvSpPr>
        <p:spPr>
          <a:xfrm>
            <a:off x="10972800" y="6492240"/>
            <a:ext cx="640080" cy="182880"/>
          </a:xfrm>
          <a:prstGeom prst="rect">
            <a:avLst/>
          </a:prstGeom>
          <a:noFill/>
        </p:spPr>
        <p:txBody>
          <a:bodyPr wrap="square" lIns="36576" tIns="18288" rIns="36576" bIns="18288">
            <a:spAutoFit/>
          </a:bodyPr>
          <a:lstStyle/>
          <a:p>
            <a:pPr algn="r">
              <a:defRPr sz="900" b="0">
                <a:solidFill>
                  <a:srgbClr val="566577"/>
                </a:solidFill>
                <a:latin typeface="Aptos"/>
              </a:defRPr>
            </a:pPr>
            <a:r>
              <a:t>12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lIns="36576" tIns="18288" rIns="36576" bIns="18288">
            <a:spAutoFit/>
          </a:bodyPr>
          <a:lstStyle/>
          <a:p>
            <a:pPr>
              <a:defRPr sz="900" b="1">
                <a:solidFill>
                  <a:srgbClr val="1A5DAB"/>
                </a:solidFill>
                <a:latin typeface="Aptos"/>
              </a:defRPr>
            </a:pPr>
            <a:r>
              <a:t>APPLIED DATA SCIENCE CAPSTONE • SPACEX FALCON 9</a:t>
            </a:r>
          </a:p>
        </p:txBody>
      </p:sp>
      <p:sp>
        <p:nvSpPr>
          <p:cNvPr id="4" name="TextBox 3"/>
          <p:cNvSpPr txBox="1"/>
          <p:nvPr/>
        </p:nvSpPr>
        <p:spPr>
          <a:xfrm>
            <a:off x="502920" y="566928"/>
            <a:ext cx="11155680" cy="530352"/>
          </a:xfrm>
          <a:prstGeom prst="rect">
            <a:avLst/>
          </a:prstGeom>
          <a:noFill/>
        </p:spPr>
        <p:txBody>
          <a:bodyPr wrap="square" lIns="36576" tIns="18288" rIns="36576" bIns="18288">
            <a:spAutoFit/>
          </a:bodyPr>
          <a:lstStyle/>
          <a:p>
            <a:pPr>
              <a:defRPr sz="2700" b="1">
                <a:solidFill>
                  <a:srgbClr val="0B1930"/>
                </a:solidFill>
                <a:latin typeface="Aptos"/>
              </a:defRPr>
            </a:pPr>
            <a:r>
              <a:t>Limites et précautions d’interprétation</a:t>
            </a:r>
          </a:p>
        </p:txBody>
      </p:sp>
      <p:sp>
        <p:nvSpPr>
          <p:cNvPr id="5" name="Rectangle 4"/>
          <p:cNvSpPr/>
          <p:nvPr/>
        </p:nvSpPr>
        <p:spPr>
          <a:xfrm>
            <a:off x="502920" y="1170432"/>
            <a:ext cx="11155680" cy="32004"/>
          </a:xfrm>
          <a:prstGeom prst="rect">
            <a:avLst/>
          </a:prstGeom>
          <a:solidFill>
            <a:srgbClr val="00B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08760"/>
            <a:ext cx="10789920" cy="4480560"/>
          </a:xfrm>
          <a:prstGeom prst="rect">
            <a:avLst/>
          </a:prstGeom>
          <a:noFill/>
        </p:spPr>
        <p:txBody>
          <a:bodyPr wrap="square" lIns="73152" rIns="54864">
            <a:spAutoFit/>
          </a:bodyPr>
          <a:lstStyle/>
          <a:p>
            <a:pPr>
              <a:spcAft>
                <a:spcPts val="900"/>
              </a:spcAft>
              <a:defRPr sz="1800">
                <a:solidFill>
                  <a:srgbClr val="1B2735"/>
                </a:solidFill>
                <a:latin typeface="Aptos"/>
              </a:defRPr>
            </a:pPr>
            <a:r>
              <a:t>•  Les tableaux chiffrés présentés proviennent du CSV associé au tableau de bord et ne représentent pas nécessairement l’intégralité de l’historique SpaceX.</a:t>
            </a:r>
          </a:p>
          <a:p>
            <a:pPr>
              <a:spcAft>
                <a:spcPts val="900"/>
              </a:spcAft>
              <a:defRPr sz="1800">
                <a:solidFill>
                  <a:srgbClr val="1B2735"/>
                </a:solidFill>
                <a:latin typeface="Aptos"/>
              </a:defRPr>
            </a:pPr>
            <a:r>
              <a:t>•  Certains groupes ont de faibles effectifs, par exemple B5 (un lancement) ou la plage 6 000–7 000 kg (quatre lancements).</a:t>
            </a:r>
          </a:p>
          <a:p>
            <a:pPr>
              <a:spcAft>
                <a:spcPts val="900"/>
              </a:spcAft>
              <a:defRPr sz="1800">
                <a:solidFill>
                  <a:srgbClr val="1B2735"/>
                </a:solidFill>
                <a:latin typeface="Aptos"/>
              </a:defRPr>
            </a:pPr>
            <a:r>
              <a:t>•  Les taux ne contrôlent pas simultanément les différences de période, de mission, de site et de version de booster.</a:t>
            </a:r>
          </a:p>
          <a:p>
            <a:pPr>
              <a:spcAft>
                <a:spcPts val="900"/>
              </a:spcAft>
              <a:defRPr sz="1800">
                <a:solidFill>
                  <a:srgbClr val="1B2735"/>
                </a:solidFill>
                <a:latin typeface="Aptos"/>
              </a:defRPr>
            </a:pPr>
            <a:r>
              <a:t>•  Les associations observées ne démontrent pas de causalité.</a:t>
            </a:r>
          </a:p>
          <a:p>
            <a:pPr>
              <a:spcAft>
                <a:spcPts val="900"/>
              </a:spcAft>
              <a:defRPr sz="1800">
                <a:solidFill>
                  <a:srgbClr val="1B2735"/>
                </a:solidFill>
                <a:latin typeface="Aptos"/>
              </a:defRPr>
            </a:pPr>
            <a:r>
              <a:t>•  Avant une conclusion prédictive, il faut vérifier les données, la définition de la cible, le découpage train/test et les métriques du modèle.</a:t>
            </a:r>
          </a:p>
        </p:txBody>
      </p:sp>
      <p:sp>
        <p:nvSpPr>
          <p:cNvPr id="7" name="TextBox 6"/>
          <p:cNvSpPr txBox="1"/>
          <p:nvPr/>
        </p:nvSpPr>
        <p:spPr>
          <a:xfrm>
            <a:off x="502920" y="6510528"/>
            <a:ext cx="9144000" cy="164592"/>
          </a:xfrm>
          <a:prstGeom prst="rect">
            <a:avLst/>
          </a:prstGeom>
          <a:noFill/>
        </p:spPr>
        <p:txBody>
          <a:bodyPr wrap="square" lIns="36576" tIns="18288" rIns="36576" bIns="18288">
            <a:spAutoFit/>
          </a:bodyPr>
          <a:lstStyle/>
          <a:p>
            <a:pPr>
              <a:defRPr sz="800" b="0">
                <a:solidFill>
                  <a:srgbClr val="566577"/>
                </a:solidFill>
                <a:latin typeface="Aptos"/>
              </a:defRPr>
            </a:pPr>
            <a:r>
              <a:t>Projet SpaceX Falcon 9 • Analyse descriptive et tableau de bord interactif</a:t>
            </a:r>
          </a:p>
        </p:txBody>
      </p:sp>
      <p:sp>
        <p:nvSpPr>
          <p:cNvPr id="8" name="TextBox 7"/>
          <p:cNvSpPr txBox="1"/>
          <p:nvPr/>
        </p:nvSpPr>
        <p:spPr>
          <a:xfrm>
            <a:off x="10972800" y="6492240"/>
            <a:ext cx="640080" cy="182880"/>
          </a:xfrm>
          <a:prstGeom prst="rect">
            <a:avLst/>
          </a:prstGeom>
          <a:noFill/>
        </p:spPr>
        <p:txBody>
          <a:bodyPr wrap="square" lIns="36576" tIns="18288" rIns="36576" bIns="18288">
            <a:spAutoFit/>
          </a:bodyPr>
          <a:lstStyle/>
          <a:p>
            <a:pPr algn="r">
              <a:defRPr sz="900" b="0">
                <a:solidFill>
                  <a:srgbClr val="566577"/>
                </a:solidFill>
                <a:latin typeface="Aptos"/>
              </a:defRPr>
            </a:pPr>
            <a:r>
              <a:t>13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lIns="36576" tIns="18288" rIns="36576" bIns="18288">
            <a:spAutoFit/>
          </a:bodyPr>
          <a:lstStyle/>
          <a:p>
            <a:pPr>
              <a:defRPr sz="900" b="1">
                <a:solidFill>
                  <a:srgbClr val="1A5DAB"/>
                </a:solidFill>
                <a:latin typeface="Aptos"/>
              </a:defRPr>
            </a:pPr>
            <a:r>
              <a:t>APPLIED DATA SCIENCE CAPSTONE • SPACEX FALCON 9</a:t>
            </a:r>
          </a:p>
        </p:txBody>
      </p:sp>
      <p:sp>
        <p:nvSpPr>
          <p:cNvPr id="4" name="TextBox 3"/>
          <p:cNvSpPr txBox="1"/>
          <p:nvPr/>
        </p:nvSpPr>
        <p:spPr>
          <a:xfrm>
            <a:off x="502920" y="566928"/>
            <a:ext cx="11155680" cy="530352"/>
          </a:xfrm>
          <a:prstGeom prst="rect">
            <a:avLst/>
          </a:prstGeom>
          <a:noFill/>
        </p:spPr>
        <p:txBody>
          <a:bodyPr wrap="square" lIns="36576" tIns="18288" rIns="36576" bIns="18288">
            <a:spAutoFit/>
          </a:bodyPr>
          <a:lstStyle/>
          <a:p>
            <a:pPr>
              <a:defRPr sz="2700" b="1">
                <a:solidFill>
                  <a:srgbClr val="0B1930"/>
                </a:solidFill>
                <a:latin typeface="Aptos"/>
              </a:defRPr>
            </a:pPr>
            <a:r>
              <a:t>Conclusion</a:t>
            </a:r>
          </a:p>
        </p:txBody>
      </p:sp>
      <p:sp>
        <p:nvSpPr>
          <p:cNvPr id="5" name="Rectangle 4"/>
          <p:cNvSpPr/>
          <p:nvPr/>
        </p:nvSpPr>
        <p:spPr>
          <a:xfrm>
            <a:off x="502920" y="1170432"/>
            <a:ext cx="11155680" cy="32004"/>
          </a:xfrm>
          <a:prstGeom prst="rect">
            <a:avLst/>
          </a:prstGeom>
          <a:solidFill>
            <a:srgbClr val="00B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08760"/>
            <a:ext cx="10789920" cy="4480560"/>
          </a:xfrm>
          <a:prstGeom prst="rect">
            <a:avLst/>
          </a:prstGeom>
          <a:noFill/>
        </p:spPr>
        <p:txBody>
          <a:bodyPr wrap="square" lIns="73152" rIns="54864">
            <a:spAutoFit/>
          </a:bodyPr>
          <a:lstStyle/>
          <a:p>
            <a:pPr>
              <a:spcAft>
                <a:spcPts val="900"/>
              </a:spcAft>
              <a:defRPr sz="1800">
                <a:solidFill>
                  <a:srgbClr val="1B2735"/>
                </a:solidFill>
                <a:latin typeface="Aptos"/>
              </a:defRPr>
            </a:pPr>
            <a:r>
              <a:t>•  Dans le fichier analysé, KSC LC-39A présente le taux de réussite le plus élevé parmi les sites listés : 76,92 % (10/13).</a:t>
            </a:r>
          </a:p>
          <a:p>
            <a:pPr>
              <a:spcAft>
                <a:spcPts val="900"/>
              </a:spcAft>
              <a:defRPr sz="1800">
                <a:solidFill>
                  <a:srgbClr val="1B2735"/>
                </a:solidFill>
                <a:latin typeface="Aptos"/>
              </a:defRPr>
            </a:pPr>
            <a:r>
              <a:t>•  L’intervalle 3 000–4 000 kg affiche le taux le plus élevé parmi les intervalles de charge utile renseignés : 72,73 % (8/11).</a:t>
            </a:r>
          </a:p>
          <a:p>
            <a:pPr>
              <a:spcAft>
                <a:spcPts val="900"/>
              </a:spcAft>
              <a:defRPr sz="1800">
                <a:solidFill>
                  <a:srgbClr val="1B2735"/>
                </a:solidFill>
                <a:latin typeface="Aptos"/>
              </a:defRPr>
            </a:pPr>
            <a:r>
              <a:t>•  La version FT compte le plus grand nombre de succès parmi les versions listées : 16 sur 24, soit 66,67 %.</a:t>
            </a:r>
          </a:p>
          <a:p>
            <a:pPr>
              <a:spcAft>
                <a:spcPts val="900"/>
              </a:spcAft>
              <a:defRPr sz="1800">
                <a:solidFill>
                  <a:srgbClr val="1B2735"/>
                </a:solidFill>
                <a:latin typeface="Aptos"/>
              </a:defRPr>
            </a:pPr>
            <a:r>
              <a:t>•  Le tableau de bord Dash est fonctionnel et facilite l’exploration interactive des données.</a:t>
            </a:r>
          </a:p>
          <a:p>
            <a:pPr>
              <a:spcAft>
                <a:spcPts val="900"/>
              </a:spcAft>
              <a:defRPr sz="1800">
                <a:solidFill>
                  <a:srgbClr val="1B2735"/>
                </a:solidFill>
                <a:latin typeface="Aptos"/>
              </a:defRPr>
            </a:pPr>
            <a:r>
              <a:t>•  La suite logique consiste à compléter la présentation par les résultats vérifiés des notebooks EDA, SQL, Folium et classification avant de revendiquer une analyse prédictive complète.</a:t>
            </a:r>
          </a:p>
        </p:txBody>
      </p:sp>
      <p:sp>
        <p:nvSpPr>
          <p:cNvPr id="7" name="TextBox 6"/>
          <p:cNvSpPr txBox="1"/>
          <p:nvPr/>
        </p:nvSpPr>
        <p:spPr>
          <a:xfrm>
            <a:off x="502920" y="6510528"/>
            <a:ext cx="9144000" cy="164592"/>
          </a:xfrm>
          <a:prstGeom prst="rect">
            <a:avLst/>
          </a:prstGeom>
          <a:noFill/>
        </p:spPr>
        <p:txBody>
          <a:bodyPr wrap="square" lIns="36576" tIns="18288" rIns="36576" bIns="18288">
            <a:spAutoFit/>
          </a:bodyPr>
          <a:lstStyle/>
          <a:p>
            <a:pPr>
              <a:defRPr sz="800" b="0">
                <a:solidFill>
                  <a:srgbClr val="566577"/>
                </a:solidFill>
                <a:latin typeface="Aptos"/>
              </a:defRPr>
            </a:pPr>
            <a:r>
              <a:t>Projet SpaceX Falcon 9 • Analyse descriptive et tableau de bord interactif</a:t>
            </a:r>
          </a:p>
        </p:txBody>
      </p:sp>
      <p:sp>
        <p:nvSpPr>
          <p:cNvPr id="8" name="TextBox 7"/>
          <p:cNvSpPr txBox="1"/>
          <p:nvPr/>
        </p:nvSpPr>
        <p:spPr>
          <a:xfrm>
            <a:off x="10972800" y="6492240"/>
            <a:ext cx="640080" cy="182880"/>
          </a:xfrm>
          <a:prstGeom prst="rect">
            <a:avLst/>
          </a:prstGeom>
          <a:noFill/>
        </p:spPr>
        <p:txBody>
          <a:bodyPr wrap="square" lIns="36576" tIns="18288" rIns="36576" bIns="18288">
            <a:spAutoFit/>
          </a:bodyPr>
          <a:lstStyle/>
          <a:p>
            <a:pPr algn="r">
              <a:defRPr sz="900" b="0">
                <a:solidFill>
                  <a:srgbClr val="566577"/>
                </a:solidFill>
                <a:latin typeface="Aptos"/>
              </a:defRPr>
            </a:pPr>
            <a:r>
              <a:t>14</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lIns="36576" tIns="18288" rIns="36576" bIns="18288">
            <a:spAutoFit/>
          </a:bodyPr>
          <a:lstStyle/>
          <a:p>
            <a:pPr>
              <a:defRPr sz="900" b="1">
                <a:solidFill>
                  <a:srgbClr val="1A5DAB"/>
                </a:solidFill>
                <a:latin typeface="Aptos"/>
              </a:defRPr>
            </a:pPr>
            <a:r>
              <a:t>APPLIED DATA SCIENCE CAPSTONE • SPACEX FALCON 9</a:t>
            </a:r>
          </a:p>
        </p:txBody>
      </p:sp>
      <p:sp>
        <p:nvSpPr>
          <p:cNvPr id="4" name="TextBox 3"/>
          <p:cNvSpPr txBox="1"/>
          <p:nvPr/>
        </p:nvSpPr>
        <p:spPr>
          <a:xfrm>
            <a:off x="502920" y="566928"/>
            <a:ext cx="11155680" cy="530352"/>
          </a:xfrm>
          <a:prstGeom prst="rect">
            <a:avLst/>
          </a:prstGeom>
          <a:noFill/>
        </p:spPr>
        <p:txBody>
          <a:bodyPr wrap="square" lIns="36576" tIns="18288" rIns="36576" bIns="18288">
            <a:spAutoFit/>
          </a:bodyPr>
          <a:lstStyle/>
          <a:p>
            <a:pPr>
              <a:defRPr sz="2700" b="1">
                <a:solidFill>
                  <a:srgbClr val="0B1930"/>
                </a:solidFill>
                <a:latin typeface="Aptos"/>
              </a:defRPr>
            </a:pPr>
            <a:r>
              <a:t>Reproductibilité et sources</a:t>
            </a:r>
          </a:p>
        </p:txBody>
      </p:sp>
      <p:sp>
        <p:nvSpPr>
          <p:cNvPr id="5" name="Rectangle 4"/>
          <p:cNvSpPr/>
          <p:nvPr/>
        </p:nvSpPr>
        <p:spPr>
          <a:xfrm>
            <a:off x="502920" y="1170432"/>
            <a:ext cx="11155680" cy="32004"/>
          </a:xfrm>
          <a:prstGeom prst="rect">
            <a:avLst/>
          </a:prstGeom>
          <a:solidFill>
            <a:srgbClr val="00B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08760"/>
            <a:ext cx="10789920" cy="4480560"/>
          </a:xfrm>
          <a:prstGeom prst="rect">
            <a:avLst/>
          </a:prstGeom>
          <a:noFill/>
        </p:spPr>
        <p:txBody>
          <a:bodyPr wrap="square" lIns="73152" rIns="54864">
            <a:spAutoFit/>
          </a:bodyPr>
          <a:lstStyle/>
          <a:p>
            <a:pPr>
              <a:spcAft>
                <a:spcPts val="900"/>
              </a:spcAft>
              <a:defRPr sz="1800">
                <a:solidFill>
                  <a:srgbClr val="1B2735"/>
                </a:solidFill>
                <a:latin typeface="Aptos"/>
              </a:defRPr>
            </a:pPr>
            <a:r>
              <a:t>•  Source des tableaux chiffrés présentés : exécution du script analyse_spacex.py sur spacex_launch_dash.csv dans l’environnement IBM/Coursera Theia, résultats transmis le 21 octobre 2026.</a:t>
            </a:r>
          </a:p>
          <a:p>
            <a:pPr>
              <a:spcAft>
                <a:spcPts val="900"/>
              </a:spcAft>
              <a:defRPr sz="1800">
                <a:solidFill>
                  <a:srgbClr val="1B2735"/>
                </a:solidFill>
                <a:latin typeface="Aptos"/>
              </a:defRPr>
            </a:pPr>
            <a:r>
              <a:t>•  Tableau de bord : spacex-dash-app.py, exécuté dans Theia sur le port 8051 ; fonctionnalités principales testées manuellement.</a:t>
            </a:r>
          </a:p>
          <a:p>
            <a:pPr>
              <a:spcAft>
                <a:spcPts val="900"/>
              </a:spcAft>
              <a:defRPr sz="1800">
                <a:solidFill>
                  <a:srgbClr val="1B2735"/>
                </a:solidFill>
                <a:latin typeface="Aptos"/>
              </a:defRPr>
            </a:pPr>
            <a:r>
              <a:t>•  Outils : Python, pandas, Plotly Express et Dash ; le parcours de laboratoire mobilise également SQL et Folium.</a:t>
            </a:r>
          </a:p>
          <a:p>
            <a:pPr>
              <a:spcAft>
                <a:spcPts val="900"/>
              </a:spcAft>
              <a:defRPr sz="1800">
                <a:solidFill>
                  <a:srgbClr val="1B2735"/>
                </a:solidFill>
                <a:latin typeface="Aptos"/>
              </a:defRPr>
            </a:pPr>
            <a:r>
              <a:t>•  Dépôt GitHub : aucun lien vérifié n’a été communiqué pour cette version ; ne pas ajouter de lien fictif.</a:t>
            </a:r>
          </a:p>
          <a:p>
            <a:pPr>
              <a:spcAft>
                <a:spcPts val="900"/>
              </a:spcAft>
              <a:defRPr sz="1800">
                <a:solidFill>
                  <a:srgbClr val="1B2735"/>
                </a:solidFill>
                <a:latin typeface="Aptos"/>
              </a:defRPr>
            </a:pPr>
            <a:r>
              <a:t>•  À joindre lors de l’envoi si exigé : lien du dépôt public réel et captures d’écran issues de l’application en fonctionnement.</a:t>
            </a:r>
          </a:p>
        </p:txBody>
      </p:sp>
      <p:sp>
        <p:nvSpPr>
          <p:cNvPr id="7" name="TextBox 6"/>
          <p:cNvSpPr txBox="1"/>
          <p:nvPr/>
        </p:nvSpPr>
        <p:spPr>
          <a:xfrm>
            <a:off x="502920" y="6510528"/>
            <a:ext cx="9144000" cy="164592"/>
          </a:xfrm>
          <a:prstGeom prst="rect">
            <a:avLst/>
          </a:prstGeom>
          <a:noFill/>
        </p:spPr>
        <p:txBody>
          <a:bodyPr wrap="square" lIns="36576" tIns="18288" rIns="36576" bIns="18288">
            <a:spAutoFit/>
          </a:bodyPr>
          <a:lstStyle/>
          <a:p>
            <a:pPr>
              <a:defRPr sz="800" b="0">
                <a:solidFill>
                  <a:srgbClr val="566577"/>
                </a:solidFill>
                <a:latin typeface="Aptos"/>
              </a:defRPr>
            </a:pPr>
            <a:r>
              <a:t>Projet SpaceX Falcon 9 • Analyse descriptive et tableau de bord interactif</a:t>
            </a:r>
          </a:p>
        </p:txBody>
      </p:sp>
      <p:sp>
        <p:nvSpPr>
          <p:cNvPr id="8" name="TextBox 7"/>
          <p:cNvSpPr txBox="1"/>
          <p:nvPr/>
        </p:nvSpPr>
        <p:spPr>
          <a:xfrm>
            <a:off x="10972800" y="6492240"/>
            <a:ext cx="640080" cy="182880"/>
          </a:xfrm>
          <a:prstGeom prst="rect">
            <a:avLst/>
          </a:prstGeom>
          <a:noFill/>
        </p:spPr>
        <p:txBody>
          <a:bodyPr wrap="square" lIns="36576" tIns="18288" rIns="36576" bIns="18288">
            <a:spAutoFit/>
          </a:bodyPr>
          <a:lstStyle/>
          <a:p>
            <a:pPr algn="r">
              <a:defRPr sz="900" b="0">
                <a:solidFill>
                  <a:srgbClr val="566577"/>
                </a:solidFill>
                <a:latin typeface="Aptos"/>
              </a:defRPr>
            </a:pPr>
            <a:r>
              <a:t>15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1155680" cy="256032"/>
          </a:xfrm>
          <a:prstGeom prst="rect">
            <a:avLst/>
          </a:prstGeom>
          <a:noFill/>
        </p:spPr>
        <p:txBody>
          <a:bodyPr wrap="square" lIns="36576" tIns="18288" rIns="36576" bIns="18288">
            <a:spAutoFit/>
          </a:bodyPr>
          <a:lstStyle/>
          <a:p>
            <a:pPr>
              <a:defRPr sz="900" b="1">
                <a:solidFill>
                  <a:srgbClr val="1A5DAB"/>
                </a:solidFill>
                <a:latin typeface="Aptos"/>
              </a:defRPr>
            </a:pPr>
            <a:r>
              <a:t>APPLIED DATA SCIENCE CAPSTONE • SPACEX FALCON 9</a:t>
            </a:r>
          </a:p>
        </p:txBody>
      </p:sp>
      <p:sp>
        <p:nvSpPr>
          <p:cNvPr id="4" name="TextBox 3"/>
          <p:cNvSpPr txBox="1"/>
          <p:nvPr/>
        </p:nvSpPr>
        <p:spPr>
          <a:xfrm>
            <a:off x="502920" y="566928"/>
            <a:ext cx="11155680" cy="530352"/>
          </a:xfrm>
          <a:prstGeom prst="rect">
            <a:avLst/>
          </a:prstGeom>
          <a:noFill/>
        </p:spPr>
        <p:txBody>
          <a:bodyPr wrap="square" lIns="36576" tIns="18288" rIns="36576" bIns="18288">
            <a:spAutoFit/>
          </a:bodyPr>
          <a:lstStyle/>
          <a:p>
            <a:pPr>
              <a:defRPr sz="2700" b="1">
                <a:solidFill>
                  <a:srgbClr val="0B1930"/>
                </a:solidFill>
                <a:latin typeface="Aptos"/>
              </a:defRPr>
            </a:pPr>
            <a:r>
              <a:t>Annexe — définitions utiles</a:t>
            </a:r>
          </a:p>
        </p:txBody>
      </p:sp>
      <p:sp>
        <p:nvSpPr>
          <p:cNvPr id="5" name="Rectangle 4"/>
          <p:cNvSpPr/>
          <p:nvPr/>
        </p:nvSpPr>
        <p:spPr>
          <a:xfrm>
            <a:off x="502920" y="1170432"/>
            <a:ext cx="11155680" cy="32004"/>
          </a:xfrm>
          <a:prstGeom prst="rect">
            <a:avLst/>
          </a:prstGeom>
          <a:solidFill>
            <a:srgbClr val="00B7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08760"/>
            <a:ext cx="10789920" cy="4480560"/>
          </a:xfrm>
          <a:prstGeom prst="rect">
            <a:avLst/>
          </a:prstGeom>
          <a:noFill/>
        </p:spPr>
        <p:txBody>
          <a:bodyPr wrap="square" lIns="73152" rIns="54864">
            <a:spAutoFit/>
          </a:bodyPr>
          <a:lstStyle/>
          <a:p>
            <a:pPr>
              <a:spcAft>
                <a:spcPts val="900"/>
              </a:spcAft>
              <a:defRPr sz="1800">
                <a:solidFill>
                  <a:srgbClr val="1B2735"/>
                </a:solidFill>
                <a:latin typeface="Aptos"/>
              </a:defRPr>
            </a:pPr>
            <a:r>
              <a:t>•  Nombre de lancements : nombre d’observations disponibles dans le groupe.</a:t>
            </a:r>
          </a:p>
          <a:p>
            <a:pPr>
              <a:spcAft>
                <a:spcPts val="900"/>
              </a:spcAft>
              <a:defRPr sz="1800">
                <a:solidFill>
                  <a:srgbClr val="1B2735"/>
                </a:solidFill>
                <a:latin typeface="Aptos"/>
              </a:defRPr>
            </a:pPr>
            <a:r>
              <a:t>•  Nombre de succès : somme de la variable class lorsque 1 représente un succès.</a:t>
            </a:r>
          </a:p>
          <a:p>
            <a:pPr>
              <a:spcAft>
                <a:spcPts val="900"/>
              </a:spcAft>
              <a:defRPr sz="1800">
                <a:solidFill>
                  <a:srgbClr val="1B2735"/>
                </a:solidFill>
                <a:latin typeface="Aptos"/>
              </a:defRPr>
            </a:pPr>
            <a:r>
              <a:t>•  Taux de succès : succès ÷ lancements observés × 100.</a:t>
            </a:r>
          </a:p>
          <a:p>
            <a:pPr>
              <a:spcAft>
                <a:spcPts val="900"/>
              </a:spcAft>
              <a:defRPr sz="1800">
                <a:solidFill>
                  <a:srgbClr val="1B2735"/>
                </a:solidFill>
                <a:latin typeface="Aptos"/>
              </a:defRPr>
            </a:pPr>
            <a:r>
              <a:t>•  Charge utile : masse du chargement transporté, ici exprimée en kilogrammes.</a:t>
            </a:r>
          </a:p>
          <a:p>
            <a:pPr>
              <a:spcAft>
                <a:spcPts val="900"/>
              </a:spcAft>
              <a:defRPr sz="1800">
                <a:solidFill>
                  <a:srgbClr val="1B2735"/>
                </a:solidFill>
                <a:latin typeface="Aptos"/>
              </a:defRPr>
            </a:pPr>
            <a:r>
              <a:t>•  Un taux calculé sur un effectif très faible est très incertain et doit être interprété avec prudence.</a:t>
            </a:r>
          </a:p>
        </p:txBody>
      </p:sp>
      <p:sp>
        <p:nvSpPr>
          <p:cNvPr id="7" name="TextBox 6"/>
          <p:cNvSpPr txBox="1"/>
          <p:nvPr/>
        </p:nvSpPr>
        <p:spPr>
          <a:xfrm>
            <a:off x="502920" y="6510528"/>
            <a:ext cx="9144000" cy="164592"/>
          </a:xfrm>
          <a:prstGeom prst="rect">
            <a:avLst/>
          </a:prstGeom>
          <a:noFill/>
        </p:spPr>
        <p:txBody>
          <a:bodyPr wrap="square" lIns="36576" tIns="18288" rIns="36576" bIns="18288">
            <a:spAutoFit/>
          </a:bodyPr>
          <a:lstStyle/>
          <a:p>
            <a:pPr>
              <a:defRPr sz="800" b="0">
                <a:solidFill>
                  <a:srgbClr val="566577"/>
                </a:solidFill>
                <a:latin typeface="Aptos"/>
              </a:defRPr>
            </a:pPr>
            <a:r>
              <a:t>Projet SpaceX Falcon 9 • Analyse descriptive et tableau de bord interactif</a:t>
            </a:r>
          </a:p>
        </p:txBody>
      </p:sp>
      <p:sp>
        <p:nvSpPr>
          <p:cNvPr id="8" name="TextBox 7"/>
          <p:cNvSpPr txBox="1"/>
          <p:nvPr/>
        </p:nvSpPr>
        <p:spPr>
          <a:xfrm>
            <a:off x="10972800" y="6492240"/>
            <a:ext cx="640080" cy="182880"/>
          </a:xfrm>
          <a:prstGeom prst="rect">
            <a:avLst/>
          </a:prstGeom>
          <a:noFill/>
        </p:spPr>
        <p:txBody>
          <a:bodyPr wrap="square" lIns="36576" tIns="18288" rIns="36576" bIns="18288">
            <a:spAutoFit/>
          </a:bodyPr>
          <a:lstStyle/>
          <a:p>
            <a:pPr algn="r">
              <a:defRPr sz="900" b="0">
                <a:solidFill>
                  <a:srgbClr val="566577"/>
                </a:solidFill>
                <a:latin typeface="Aptos"/>
              </a:defRPr>
            </a:pPr>
            <a: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53</TotalTime>
  <Words>2028</Words>
  <Application>Microsoft Office PowerPoint</Application>
  <PresentationFormat>Grand écran</PresentationFormat>
  <Paragraphs>227</Paragraphs>
  <Slides>24</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24</vt:i4>
      </vt:variant>
    </vt:vector>
  </HeadingPairs>
  <TitlesOfParts>
    <vt:vector size="29" baseType="lpstr">
      <vt:lpstr>Aptos</vt:lpstr>
      <vt:lpstr>Arial</vt:lpstr>
      <vt:lpstr>Calibri</vt:lpstr>
      <vt:lpstr>Times New Roman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Alaza KAGNAYA</cp:lastModifiedBy>
  <cp:revision>3</cp:revision>
  <dcterms:created xsi:type="dcterms:W3CDTF">2013-01-27T09:14:16Z</dcterms:created>
  <dcterms:modified xsi:type="dcterms:W3CDTF">2026-10-22T11:07:30Z</dcterms:modified>
  <cp:category/>
</cp:coreProperties>
</file>